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57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74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pic>
        <p:nvPicPr>
          <p:cNvPr id="3" name="Image 0" descr="/mnt/data/a_wide_slightly_elevated_cctv_like_view_of_an_act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工地看板系統 UI 模板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58368" y="1216152"/>
            <a:ext cx="662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即時進出快訊 · 車牌/人臉截圖 · 每小時趨勢圖 · 50 吋看板顯示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1691640"/>
            <a:ext cx="1097280" cy="256032"/>
          </a:xfrm>
          <a:prstGeom prst="rect">
            <a:avLst/>
          </a:prstGeom>
          <a:solidFill>
            <a:srgbClr val="07111F"/>
          </a:solidFill>
          <a:ln>
            <a:solidFill>
              <a:srgbClr val="32D5FF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總覽模式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847088" y="1691640"/>
            <a:ext cx="1280160" cy="256032"/>
          </a:xfrm>
          <a:prstGeom prst="rect">
            <a:avLst/>
          </a:prstGeom>
          <a:solidFill>
            <a:srgbClr val="07111F"/>
          </a:solidFill>
          <a:ln>
            <a:solidFill>
              <a:srgbClr val="2ED573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單工地模式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18688" y="1691640"/>
            <a:ext cx="1280160" cy="256032"/>
          </a:xfrm>
          <a:prstGeom prst="rect">
            <a:avLst/>
          </a:prstGeom>
          <a:solidFill>
            <a:srgbClr val="07111F"/>
          </a:solidFill>
          <a:ln>
            <a:solidFill>
              <a:srgbClr val="FFB020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即時跳卡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90288" y="1691640"/>
            <a:ext cx="1371600" cy="256032"/>
          </a:xfrm>
          <a:prstGeom prst="rect">
            <a:avLst/>
          </a:prstGeom>
          <a:solidFill>
            <a:srgbClr val="07111F"/>
          </a:solidFill>
          <a:ln>
            <a:solidFill>
              <a:srgbClr val="A78BFA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24H 趨勢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909560" y="59436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07111F">
              <a:alpha val="92000"/>
            </a:srgbClr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804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設計方向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1115568"/>
            <a:ext cx="2788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看板只做顯示與切換，不做主檔維護。重點放在現況數字、最新進出事件、影像截圖與趨勢變化。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11480" y="655624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工地看板 UI 模板 · Standalone Display · 第 1 頁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8321040" y="655624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資料刷新：API 即時推送優先；備援每 60 秒輪詢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UI 功能架構與畫面模式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Standalone 看板程式的畫面切換邏輯。現場使用者只需要看資料、換工地、換看板模式。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2057400" cy="4480560"/>
          </a:xfrm>
          <a:prstGeom prst="roundRect">
            <a:avLst>
              <a:gd name="adj" fmla="val 2667"/>
            </a:avLst>
          </a:prstGeom>
          <a:solidFill>
            <a:srgbClr val="0D1B2E"/>
          </a:solidFill>
          <a:ln w="12700">
            <a:solidFill>
              <a:srgbClr val="32D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353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全工地總覽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0664" y="1965960"/>
            <a:ext cx="1737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 個工地統一顯示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人員/車輛進出與在場數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異常工地醒目提示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0664" y="3840480"/>
            <a:ext cx="1691640" cy="822960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4446270"/>
            <a:ext cx="120015" cy="70866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3539" y="4304538"/>
            <a:ext cx="120015" cy="212598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6414" y="4233672"/>
            <a:ext cx="120015" cy="283464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289" y="4375404"/>
            <a:ext cx="120015" cy="141732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2164" y="4162806"/>
            <a:ext cx="120015" cy="35433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5039" y="4021074"/>
            <a:ext cx="120015" cy="496062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97914" y="4162806"/>
            <a:ext cx="120015" cy="35433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40789" y="3950208"/>
            <a:ext cx="120015" cy="566928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83664" y="4021074"/>
            <a:ext cx="120015" cy="496062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26539" y="4091940"/>
            <a:ext cx="120015" cy="425196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69414" y="4162806"/>
            <a:ext cx="120015" cy="35433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12289" y="4233672"/>
            <a:ext cx="120015" cy="283464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62072" y="1097280"/>
            <a:ext cx="2057400" cy="4480560"/>
          </a:xfrm>
          <a:prstGeom prst="roundRect">
            <a:avLst>
              <a:gd name="adj" fmla="val 2667"/>
            </a:avLst>
          </a:prstGeom>
          <a:solidFill>
            <a:srgbClr val="0D1B2E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08376" y="1353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單一工地看板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008376" y="1965960"/>
            <a:ext cx="1737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指定工地放大顯示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同屏顯示人員與車輛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最新事件即時跳出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08376" y="3840480"/>
            <a:ext cx="1691640" cy="822960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08376" y="4446270"/>
            <a:ext cx="120015" cy="70866"/>
          </a:xfrm>
          <a:prstGeom prst="rect">
            <a:avLst/>
          </a:prstGeom>
          <a:solidFill>
            <a:srgbClr val="2ED573">
              <a:alpha val="93000"/>
            </a:srgbClr>
          </a:solidFill>
          <a:ln w="12700">
            <a:solidFill>
              <a:srgbClr val="2ED57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1251" y="4304538"/>
            <a:ext cx="120015" cy="212598"/>
          </a:xfrm>
          <a:prstGeom prst="rect">
            <a:avLst/>
          </a:prstGeom>
          <a:solidFill>
            <a:srgbClr val="2ED573">
              <a:alpha val="93000"/>
            </a:srgbClr>
          </a:solidFill>
          <a:ln w="12700">
            <a:solidFill>
              <a:srgbClr val="2ED57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4126" y="4233672"/>
            <a:ext cx="120015" cy="283464"/>
          </a:xfrm>
          <a:prstGeom prst="rect">
            <a:avLst/>
          </a:prstGeom>
          <a:solidFill>
            <a:srgbClr val="2ED573">
              <a:alpha val="93000"/>
            </a:srgbClr>
          </a:solidFill>
          <a:ln w="12700">
            <a:solidFill>
              <a:srgbClr val="2ED57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37001" y="4375404"/>
            <a:ext cx="120015" cy="141732"/>
          </a:xfrm>
          <a:prstGeom prst="rect">
            <a:avLst/>
          </a:prstGeom>
          <a:solidFill>
            <a:srgbClr val="2ED573">
              <a:alpha val="93000"/>
            </a:srgbClr>
          </a:solidFill>
          <a:ln w="12700">
            <a:solidFill>
              <a:srgbClr val="2ED57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79876" y="4162806"/>
            <a:ext cx="120015" cy="354330"/>
          </a:xfrm>
          <a:prstGeom prst="rect">
            <a:avLst/>
          </a:prstGeom>
          <a:solidFill>
            <a:srgbClr val="2ED573">
              <a:alpha val="93000"/>
            </a:srgbClr>
          </a:solidFill>
          <a:ln w="12700">
            <a:solidFill>
              <a:srgbClr val="2ED57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2751" y="4021074"/>
            <a:ext cx="120015" cy="496062"/>
          </a:xfrm>
          <a:prstGeom prst="rect">
            <a:avLst/>
          </a:prstGeom>
          <a:solidFill>
            <a:srgbClr val="2ED573">
              <a:alpha val="93000"/>
            </a:srgbClr>
          </a:solidFill>
          <a:ln w="12700">
            <a:solidFill>
              <a:srgbClr val="2ED57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65626" y="4162806"/>
            <a:ext cx="120015" cy="354330"/>
          </a:xfrm>
          <a:prstGeom prst="rect">
            <a:avLst/>
          </a:prstGeom>
          <a:solidFill>
            <a:srgbClr val="2ED573">
              <a:alpha val="93000"/>
            </a:srgbClr>
          </a:solidFill>
          <a:ln w="12700">
            <a:solidFill>
              <a:srgbClr val="2ED57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08501" y="3950208"/>
            <a:ext cx="120015" cy="566928"/>
          </a:xfrm>
          <a:prstGeom prst="rect">
            <a:avLst/>
          </a:prstGeom>
          <a:solidFill>
            <a:srgbClr val="2ED573">
              <a:alpha val="93000"/>
            </a:srgbClr>
          </a:solidFill>
          <a:ln w="12700">
            <a:solidFill>
              <a:srgbClr val="2ED57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51376" y="4021074"/>
            <a:ext cx="120015" cy="496062"/>
          </a:xfrm>
          <a:prstGeom prst="rect">
            <a:avLst/>
          </a:prstGeom>
          <a:solidFill>
            <a:srgbClr val="2ED573">
              <a:alpha val="93000"/>
            </a:srgbClr>
          </a:solidFill>
          <a:ln w="12700">
            <a:solidFill>
              <a:srgbClr val="2ED57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4251" y="4091940"/>
            <a:ext cx="120015" cy="425196"/>
          </a:xfrm>
          <a:prstGeom prst="rect">
            <a:avLst/>
          </a:prstGeom>
          <a:solidFill>
            <a:srgbClr val="2ED573">
              <a:alpha val="93000"/>
            </a:srgbClr>
          </a:solidFill>
          <a:ln w="12700">
            <a:solidFill>
              <a:srgbClr val="2ED57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37126" y="4162806"/>
            <a:ext cx="120015" cy="354330"/>
          </a:xfrm>
          <a:prstGeom prst="rect">
            <a:avLst/>
          </a:prstGeom>
          <a:solidFill>
            <a:srgbClr val="2ED573">
              <a:alpha val="93000"/>
            </a:srgbClr>
          </a:solidFill>
          <a:ln w="12700">
            <a:solidFill>
              <a:srgbClr val="2ED57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80001" y="4233672"/>
            <a:ext cx="120015" cy="283464"/>
          </a:xfrm>
          <a:prstGeom prst="rect">
            <a:avLst/>
          </a:prstGeom>
          <a:solidFill>
            <a:srgbClr val="2ED573">
              <a:alpha val="93000"/>
            </a:srgbClr>
          </a:solidFill>
          <a:ln w="12700">
            <a:solidFill>
              <a:srgbClr val="2ED57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9784" y="1097280"/>
            <a:ext cx="2057400" cy="4480560"/>
          </a:xfrm>
          <a:prstGeom prst="roundRect">
            <a:avLst>
              <a:gd name="adj" fmla="val 2667"/>
            </a:avLst>
          </a:prstGeom>
          <a:solidFill>
            <a:srgbClr val="0D1B2E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76088" y="1353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車輛看板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276088" y="1965960"/>
            <a:ext cx="1737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車牌、車輛截圖、進出方向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白名單/黑名單/陌生車牌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車次與在場車輛趨勢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276088" y="3840480"/>
            <a:ext cx="1691640" cy="822960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76088" y="4446270"/>
            <a:ext cx="120015" cy="70866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18963" y="4304538"/>
            <a:ext cx="120015" cy="212598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61838" y="4233672"/>
            <a:ext cx="120015" cy="283464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04713" y="4375404"/>
            <a:ext cx="120015" cy="141732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47588" y="4162806"/>
            <a:ext cx="120015" cy="354330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90463" y="4021074"/>
            <a:ext cx="120015" cy="496062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33338" y="4162806"/>
            <a:ext cx="120015" cy="354330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76213" y="3950208"/>
            <a:ext cx="120015" cy="566928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19088" y="4021074"/>
            <a:ext cx="120015" cy="496062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61963" y="4091940"/>
            <a:ext cx="120015" cy="425196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04838" y="4162806"/>
            <a:ext cx="120015" cy="354330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47713" y="4233672"/>
            <a:ext cx="120015" cy="283464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97496" y="1097280"/>
            <a:ext cx="2057400" cy="4480560"/>
          </a:xfrm>
          <a:prstGeom prst="roundRect">
            <a:avLst>
              <a:gd name="adj" fmla="val 2667"/>
            </a:avLst>
          </a:prstGeom>
          <a:solidFill>
            <a:srgbClr val="0D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43800" y="1353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人員看板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7543800" y="1965960"/>
            <a:ext cx="1737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人臉截圖、姓名、承攬商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有效證照與過期提示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進場/離場/在場人數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543800" y="3840480"/>
            <a:ext cx="1691640" cy="822960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43800" y="4446270"/>
            <a:ext cx="120015" cy="70866"/>
          </a:xfrm>
          <a:prstGeom prst="rect">
            <a:avLst/>
          </a:prstGeom>
          <a:solidFill>
            <a:srgbClr val="A78BFA">
              <a:alpha val="93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86675" y="4304538"/>
            <a:ext cx="120015" cy="212598"/>
          </a:xfrm>
          <a:prstGeom prst="rect">
            <a:avLst/>
          </a:prstGeom>
          <a:solidFill>
            <a:srgbClr val="A78BFA">
              <a:alpha val="93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29550" y="4233672"/>
            <a:ext cx="120015" cy="283464"/>
          </a:xfrm>
          <a:prstGeom prst="rect">
            <a:avLst/>
          </a:prstGeom>
          <a:solidFill>
            <a:srgbClr val="A78BFA">
              <a:alpha val="93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972425" y="4375404"/>
            <a:ext cx="120015" cy="141732"/>
          </a:xfrm>
          <a:prstGeom prst="rect">
            <a:avLst/>
          </a:prstGeom>
          <a:solidFill>
            <a:srgbClr val="A78BFA">
              <a:alpha val="93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15300" y="4162806"/>
            <a:ext cx="120015" cy="354330"/>
          </a:xfrm>
          <a:prstGeom prst="rect">
            <a:avLst/>
          </a:prstGeom>
          <a:solidFill>
            <a:srgbClr val="A78BFA">
              <a:alpha val="93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58175" y="4021074"/>
            <a:ext cx="120015" cy="496062"/>
          </a:xfrm>
          <a:prstGeom prst="rect">
            <a:avLst/>
          </a:prstGeom>
          <a:solidFill>
            <a:srgbClr val="A78BFA">
              <a:alpha val="93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01050" y="4162806"/>
            <a:ext cx="120015" cy="354330"/>
          </a:xfrm>
          <a:prstGeom prst="rect">
            <a:avLst/>
          </a:prstGeom>
          <a:solidFill>
            <a:srgbClr val="A78BFA">
              <a:alpha val="93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43925" y="3950208"/>
            <a:ext cx="120015" cy="566928"/>
          </a:xfrm>
          <a:prstGeom prst="rect">
            <a:avLst/>
          </a:prstGeom>
          <a:solidFill>
            <a:srgbClr val="A78BFA">
              <a:alpha val="93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4021074"/>
            <a:ext cx="120015" cy="496062"/>
          </a:xfrm>
          <a:prstGeom prst="rect">
            <a:avLst/>
          </a:prstGeom>
          <a:solidFill>
            <a:srgbClr val="A78BFA">
              <a:alpha val="93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29675" y="4091940"/>
            <a:ext cx="120015" cy="425196"/>
          </a:xfrm>
          <a:prstGeom prst="rect">
            <a:avLst/>
          </a:prstGeom>
          <a:solidFill>
            <a:srgbClr val="A78BFA">
              <a:alpha val="93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72550" y="4162806"/>
            <a:ext cx="120015" cy="354330"/>
          </a:xfrm>
          <a:prstGeom prst="rect">
            <a:avLst/>
          </a:prstGeom>
          <a:solidFill>
            <a:srgbClr val="A78BFA">
              <a:alpha val="93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15425" y="4233672"/>
            <a:ext cx="120015" cy="283464"/>
          </a:xfrm>
          <a:prstGeom prst="rect">
            <a:avLst/>
          </a:prstGeom>
          <a:solidFill>
            <a:srgbClr val="A78BFA">
              <a:alpha val="93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665208" y="1097280"/>
            <a:ext cx="2057400" cy="4480560"/>
          </a:xfrm>
          <a:prstGeom prst="roundRect">
            <a:avLst>
              <a:gd name="adj" fmla="val 2667"/>
            </a:avLst>
          </a:prstGeom>
          <a:solidFill>
            <a:srgbClr val="0D1B2E"/>
          </a:solidFill>
          <a:ln w="12700">
            <a:solidFill>
              <a:srgbClr val="FF4D4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811512" y="1353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D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系統狀態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9811512" y="1965960"/>
            <a:ext cx="1737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連線、最後更新時間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刷新倒數、資料延遲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斷線與異常提示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811512" y="3840480"/>
            <a:ext cx="1691640" cy="822960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4446270"/>
            <a:ext cx="120015" cy="70866"/>
          </a:xfrm>
          <a:prstGeom prst="rect">
            <a:avLst/>
          </a:prstGeom>
          <a:solidFill>
            <a:srgbClr val="FF4D4F">
              <a:alpha val="93000"/>
            </a:srgbClr>
          </a:solidFill>
          <a:ln w="12700">
            <a:solidFill>
              <a:srgbClr val="FF4D4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954387" y="4304538"/>
            <a:ext cx="120015" cy="212598"/>
          </a:xfrm>
          <a:prstGeom prst="rect">
            <a:avLst/>
          </a:prstGeom>
          <a:solidFill>
            <a:srgbClr val="FF4D4F">
              <a:alpha val="93000"/>
            </a:srgbClr>
          </a:solidFill>
          <a:ln w="12700">
            <a:solidFill>
              <a:srgbClr val="FF4D4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097262" y="4233672"/>
            <a:ext cx="120015" cy="283464"/>
          </a:xfrm>
          <a:prstGeom prst="rect">
            <a:avLst/>
          </a:prstGeom>
          <a:solidFill>
            <a:srgbClr val="FF4D4F">
              <a:alpha val="93000"/>
            </a:srgbClr>
          </a:solidFill>
          <a:ln w="12700">
            <a:solidFill>
              <a:srgbClr val="FF4D4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240137" y="4375404"/>
            <a:ext cx="120015" cy="141732"/>
          </a:xfrm>
          <a:prstGeom prst="rect">
            <a:avLst/>
          </a:prstGeom>
          <a:solidFill>
            <a:srgbClr val="FF4D4F">
              <a:alpha val="93000"/>
            </a:srgbClr>
          </a:solidFill>
          <a:ln w="12700">
            <a:solidFill>
              <a:srgbClr val="FF4D4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383012" y="4162806"/>
            <a:ext cx="120015" cy="354330"/>
          </a:xfrm>
          <a:prstGeom prst="rect">
            <a:avLst/>
          </a:prstGeom>
          <a:solidFill>
            <a:srgbClr val="FF4D4F">
              <a:alpha val="93000"/>
            </a:srgbClr>
          </a:solidFill>
          <a:ln w="12700">
            <a:solidFill>
              <a:srgbClr val="FF4D4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525887" y="4021074"/>
            <a:ext cx="120015" cy="496062"/>
          </a:xfrm>
          <a:prstGeom prst="rect">
            <a:avLst/>
          </a:prstGeom>
          <a:solidFill>
            <a:srgbClr val="FF4D4F">
              <a:alpha val="93000"/>
            </a:srgbClr>
          </a:solidFill>
          <a:ln w="12700">
            <a:solidFill>
              <a:srgbClr val="FF4D4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668762" y="4162806"/>
            <a:ext cx="120015" cy="354330"/>
          </a:xfrm>
          <a:prstGeom prst="rect">
            <a:avLst/>
          </a:prstGeom>
          <a:solidFill>
            <a:srgbClr val="FF4D4F">
              <a:alpha val="93000"/>
            </a:srgbClr>
          </a:solidFill>
          <a:ln w="12700">
            <a:solidFill>
              <a:srgbClr val="FF4D4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811637" y="3950208"/>
            <a:ext cx="120015" cy="566928"/>
          </a:xfrm>
          <a:prstGeom prst="rect">
            <a:avLst/>
          </a:prstGeom>
          <a:solidFill>
            <a:srgbClr val="FF4D4F">
              <a:alpha val="93000"/>
            </a:srgbClr>
          </a:solidFill>
          <a:ln w="12700">
            <a:solidFill>
              <a:srgbClr val="FF4D4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954512" y="4021074"/>
            <a:ext cx="120015" cy="496062"/>
          </a:xfrm>
          <a:prstGeom prst="rect">
            <a:avLst/>
          </a:prstGeom>
          <a:solidFill>
            <a:srgbClr val="FF4D4F">
              <a:alpha val="93000"/>
            </a:srgbClr>
          </a:solidFill>
          <a:ln w="12700">
            <a:solidFill>
              <a:srgbClr val="FF4D4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097387" y="4091940"/>
            <a:ext cx="120015" cy="425196"/>
          </a:xfrm>
          <a:prstGeom prst="rect">
            <a:avLst/>
          </a:prstGeom>
          <a:solidFill>
            <a:srgbClr val="FF4D4F">
              <a:alpha val="93000"/>
            </a:srgbClr>
          </a:solidFill>
          <a:ln w="12700">
            <a:solidFill>
              <a:srgbClr val="FF4D4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240262" y="4162806"/>
            <a:ext cx="120015" cy="354330"/>
          </a:xfrm>
          <a:prstGeom prst="rect">
            <a:avLst/>
          </a:prstGeom>
          <a:solidFill>
            <a:srgbClr val="FF4D4F">
              <a:alpha val="93000"/>
            </a:srgbClr>
          </a:solidFill>
          <a:ln w="12700">
            <a:solidFill>
              <a:srgbClr val="FF4D4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383137" y="4233672"/>
            <a:ext cx="120015" cy="283464"/>
          </a:xfrm>
          <a:prstGeom prst="rect">
            <a:avLst/>
          </a:prstGeom>
          <a:solidFill>
            <a:srgbClr val="FF4D4F">
              <a:alpha val="93000"/>
            </a:srgbClr>
          </a:solidFill>
          <a:ln w="12700">
            <a:solidFill>
              <a:srgbClr val="FF4D4F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94360" y="5806440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自動輪播建議：全工地總覽 30 秒 → 單一工地看板 30 秒 → 車輛看板 20 秒 → 人員看板 20 秒。若有黑名單或證照過期事件，立即中斷輪播並顯示告警卡。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411480" y="655624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工地看板 UI 模板 · Standalone Display · 第 2 頁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8321040" y="655624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資料刷新：API 即時推送優先；備援每 60 秒輪詢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總體看板模板：12 工地即時現況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 50 吋螢幕全畫面顯示。重點是快速找出哪個工地目前人車數量異常或資料斷線。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601200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全部工地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332720" y="201168"/>
            <a:ext cx="1143000" cy="256032"/>
          </a:xfrm>
          <a:prstGeom prst="rect">
            <a:avLst/>
          </a:prstGeom>
          <a:solidFill>
            <a:srgbClr val="0D1B2E"/>
          </a:solidFill>
          <a:ln>
            <a:solidFill>
              <a:srgbClr val="2ED573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刷新 00:42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874520" cy="896112"/>
          </a:xfrm>
          <a:prstGeom prst="roundRect">
            <a:avLst>
              <a:gd name="adj" fmla="val 5102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941832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今日人員進場人次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12648" y="114300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1,286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12648" y="1527048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出場 1,052 · 在場 234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514600" y="868680"/>
            <a:ext cx="1874520" cy="896112"/>
          </a:xfrm>
          <a:prstGeom prst="roundRect">
            <a:avLst>
              <a:gd name="adj" fmla="val 5102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941832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今日車輛進場車次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24328" y="114300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342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624328" y="1527048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出場 288 · 在場 54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26280" y="868680"/>
            <a:ext cx="1874520" cy="896112"/>
          </a:xfrm>
          <a:prstGeom prst="roundRect">
            <a:avLst>
              <a:gd name="adj" fmla="val 5102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941832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異常事件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36008" y="114300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4D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636008" y="1527048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黑名單 2 · 證照過期 5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537960" y="868680"/>
            <a:ext cx="1874520" cy="896112"/>
          </a:xfrm>
          <a:prstGeom prst="roundRect">
            <a:avLst>
              <a:gd name="adj" fmla="val 5102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941832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狀態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647688" y="114300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11/12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647688" y="1527048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 個工地資料延遲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2920" y="20299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各工地現況卡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2286000"/>
            <a:ext cx="1920240" cy="749808"/>
          </a:xfrm>
          <a:prstGeom prst="roundRect">
            <a:avLst>
              <a:gd name="adj" fmla="val 4878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3682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A01 北側基地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40280" y="2377440"/>
            <a:ext cx="73152" cy="7315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6151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人員在場</a:t>
            </a:r>
            <a:endParaRPr lang="en-US" sz="560" dirty="0"/>
          </a:p>
        </p:txBody>
      </p:sp>
      <p:sp>
        <p:nvSpPr>
          <p:cNvPr id="28" name="Text 26"/>
          <p:cNvSpPr/>
          <p:nvPr/>
        </p:nvSpPr>
        <p:spPr>
          <a:xfrm>
            <a:off x="594360" y="27523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26151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車輛在場</a:t>
            </a:r>
            <a:endParaRPr lang="en-US" sz="560" dirty="0"/>
          </a:p>
        </p:txBody>
      </p:sp>
      <p:sp>
        <p:nvSpPr>
          <p:cNvPr id="30" name="Text 28"/>
          <p:cNvSpPr/>
          <p:nvPr/>
        </p:nvSpPr>
        <p:spPr>
          <a:xfrm>
            <a:off x="1188720" y="27523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764792" y="2578608"/>
            <a:ext cx="548640" cy="384048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64792" y="2795016"/>
            <a:ext cx="24765" cy="2133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12417" y="27736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60042" y="27736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07667" y="27310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5292" y="27523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02917" y="27096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50542" y="27310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98167" y="2688336"/>
            <a:ext cx="24765" cy="12801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45792" y="27523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93417" y="27736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41042" y="27310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8667" y="27096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0" y="2286000"/>
            <a:ext cx="1920240" cy="749808"/>
          </a:xfrm>
          <a:prstGeom prst="roundRect">
            <a:avLst>
              <a:gd name="adj" fmla="val 4878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51760" y="23682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A02 東門工區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297680" y="2377440"/>
            <a:ext cx="73152" cy="7315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51760" y="26151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人員在場</a:t>
            </a:r>
            <a:endParaRPr lang="en-US" sz="560" dirty="0"/>
          </a:p>
        </p:txBody>
      </p:sp>
      <p:sp>
        <p:nvSpPr>
          <p:cNvPr id="48" name="Text 46"/>
          <p:cNvSpPr/>
          <p:nvPr/>
        </p:nvSpPr>
        <p:spPr>
          <a:xfrm>
            <a:off x="2651760" y="27523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246120" y="26151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車輛在場</a:t>
            </a:r>
            <a:endParaRPr lang="en-US" sz="560" dirty="0"/>
          </a:p>
        </p:txBody>
      </p:sp>
      <p:sp>
        <p:nvSpPr>
          <p:cNvPr id="50" name="Text 48"/>
          <p:cNvSpPr/>
          <p:nvPr/>
        </p:nvSpPr>
        <p:spPr>
          <a:xfrm>
            <a:off x="3246120" y="27523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822192" y="2578608"/>
            <a:ext cx="548640" cy="384048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22192" y="2795016"/>
            <a:ext cx="24765" cy="2133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69817" y="27736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917442" y="27736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65067" y="27310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012692" y="27523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060317" y="27096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07942" y="27310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55567" y="2688336"/>
            <a:ext cx="24765" cy="12801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03192" y="27523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50817" y="27736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98442" y="27310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46067" y="27096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17720" y="2286000"/>
            <a:ext cx="1920240" cy="749808"/>
          </a:xfrm>
          <a:prstGeom prst="roundRect">
            <a:avLst>
              <a:gd name="adj" fmla="val 4878"/>
            </a:avLst>
          </a:prstGeom>
          <a:solidFill>
            <a:srgbClr val="0D1B2E"/>
          </a:solidFill>
          <a:ln w="12700">
            <a:solidFill>
              <a:srgbClr val="FF4D4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3682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A03 機電棟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355080" y="2377440"/>
            <a:ext cx="73152" cy="73152"/>
          </a:xfrm>
          <a:prstGeom prst="ellipse">
            <a:avLst/>
          </a:prstGeom>
          <a:solidFill>
            <a:srgbClr val="FF4D4F"/>
          </a:solidFill>
          <a:ln w="12700">
            <a:solidFill>
              <a:srgbClr val="FF4D4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09160" y="26151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人員在場</a:t>
            </a:r>
            <a:endParaRPr lang="en-US" sz="560" dirty="0"/>
          </a:p>
        </p:txBody>
      </p:sp>
      <p:sp>
        <p:nvSpPr>
          <p:cNvPr id="68" name="Text 66"/>
          <p:cNvSpPr/>
          <p:nvPr/>
        </p:nvSpPr>
        <p:spPr>
          <a:xfrm>
            <a:off x="4709160" y="27523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108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303520" y="26151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車輛在場</a:t>
            </a:r>
            <a:endParaRPr lang="en-US" sz="560" dirty="0"/>
          </a:p>
        </p:txBody>
      </p:sp>
      <p:sp>
        <p:nvSpPr>
          <p:cNvPr id="70" name="Text 68"/>
          <p:cNvSpPr/>
          <p:nvPr/>
        </p:nvSpPr>
        <p:spPr>
          <a:xfrm>
            <a:off x="5303520" y="27523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879592" y="2578608"/>
            <a:ext cx="548640" cy="384048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79592" y="2795016"/>
            <a:ext cx="24765" cy="2133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927217" y="27736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974842" y="27736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22467" y="27310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70092" y="27523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17717" y="27096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65342" y="27310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2967" y="2688336"/>
            <a:ext cx="24765" cy="12801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60592" y="27523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8217" y="27736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355842" y="27310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03467" y="27096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675120" y="2286000"/>
            <a:ext cx="1920240" cy="749808"/>
          </a:xfrm>
          <a:prstGeom prst="roundRect">
            <a:avLst>
              <a:gd name="adj" fmla="val 4878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766560" y="23682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A04 地下層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412480" y="2377440"/>
            <a:ext cx="73152" cy="7315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766560" y="26151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人員在場</a:t>
            </a:r>
            <a:endParaRPr lang="en-US" sz="560" dirty="0"/>
          </a:p>
        </p:txBody>
      </p:sp>
      <p:sp>
        <p:nvSpPr>
          <p:cNvPr id="88" name="Text 86"/>
          <p:cNvSpPr/>
          <p:nvPr/>
        </p:nvSpPr>
        <p:spPr>
          <a:xfrm>
            <a:off x="6766560" y="27523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39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7360920" y="26151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車輛在場</a:t>
            </a:r>
            <a:endParaRPr lang="en-US" sz="560" dirty="0"/>
          </a:p>
        </p:txBody>
      </p:sp>
      <p:sp>
        <p:nvSpPr>
          <p:cNvPr id="90" name="Text 88"/>
          <p:cNvSpPr/>
          <p:nvPr/>
        </p:nvSpPr>
        <p:spPr>
          <a:xfrm>
            <a:off x="7360920" y="27523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7936992" y="2578608"/>
            <a:ext cx="548640" cy="384048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936992" y="2795016"/>
            <a:ext cx="24765" cy="2133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84617" y="27736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32242" y="27736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079867" y="27310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127492" y="27523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175117" y="27096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22742" y="27310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270367" y="2688336"/>
            <a:ext cx="24765" cy="12801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317992" y="27523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365617" y="27736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413242" y="27310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460867" y="27096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02920" y="3200400"/>
            <a:ext cx="1920240" cy="749808"/>
          </a:xfrm>
          <a:prstGeom prst="roundRect">
            <a:avLst>
              <a:gd name="adj" fmla="val 4878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94360" y="3282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B01 高塔區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2240280" y="3291840"/>
            <a:ext cx="73152" cy="7315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94360" y="35295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人員在場</a:t>
            </a:r>
            <a:endParaRPr lang="en-US" sz="560" dirty="0"/>
          </a:p>
        </p:txBody>
      </p:sp>
      <p:sp>
        <p:nvSpPr>
          <p:cNvPr id="108" name="Text 106"/>
          <p:cNvSpPr/>
          <p:nvPr/>
        </p:nvSpPr>
        <p:spPr>
          <a:xfrm>
            <a:off x="594360" y="36667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61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188720" y="35295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車輛在場</a:t>
            </a:r>
            <a:endParaRPr lang="en-US" sz="560" dirty="0"/>
          </a:p>
        </p:txBody>
      </p:sp>
      <p:sp>
        <p:nvSpPr>
          <p:cNvPr id="110" name="Text 108"/>
          <p:cNvSpPr/>
          <p:nvPr/>
        </p:nvSpPr>
        <p:spPr>
          <a:xfrm>
            <a:off x="1188720" y="36667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1764792" y="3493008"/>
            <a:ext cx="548640" cy="384048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764792" y="3709416"/>
            <a:ext cx="24765" cy="2133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812417" y="36880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860042" y="36880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907667" y="36454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955292" y="36667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002917" y="36240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050542" y="36454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098167" y="3602736"/>
            <a:ext cx="24765" cy="12801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145792" y="36667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193417" y="36880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241042" y="36454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288667" y="36240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560320" y="3200400"/>
            <a:ext cx="1920240" cy="749808"/>
          </a:xfrm>
          <a:prstGeom prst="roundRect">
            <a:avLst>
              <a:gd name="adj" fmla="val 4878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651760" y="3282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B02 材料場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4297680" y="3291840"/>
            <a:ext cx="73152" cy="7315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651760" y="35295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人員在場</a:t>
            </a:r>
            <a:endParaRPr lang="en-US" sz="560" dirty="0"/>
          </a:p>
        </p:txBody>
      </p:sp>
      <p:sp>
        <p:nvSpPr>
          <p:cNvPr id="128" name="Text 126"/>
          <p:cNvSpPr/>
          <p:nvPr/>
        </p:nvSpPr>
        <p:spPr>
          <a:xfrm>
            <a:off x="2651760" y="36667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</a:t>
            </a:r>
            <a:endParaRPr lang="en-US" sz="1200" dirty="0"/>
          </a:p>
        </p:txBody>
      </p:sp>
      <p:sp>
        <p:nvSpPr>
          <p:cNvPr id="129" name="Text 127"/>
          <p:cNvSpPr/>
          <p:nvPr/>
        </p:nvSpPr>
        <p:spPr>
          <a:xfrm>
            <a:off x="3246120" y="35295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車輛在場</a:t>
            </a:r>
            <a:endParaRPr lang="en-US" sz="560" dirty="0"/>
          </a:p>
        </p:txBody>
      </p:sp>
      <p:sp>
        <p:nvSpPr>
          <p:cNvPr id="130" name="Text 128"/>
          <p:cNvSpPr/>
          <p:nvPr/>
        </p:nvSpPr>
        <p:spPr>
          <a:xfrm>
            <a:off x="3246120" y="36667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3822192" y="3493008"/>
            <a:ext cx="548640" cy="384048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822192" y="3709416"/>
            <a:ext cx="24765" cy="2133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869817" y="36880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917442" y="36880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965067" y="36454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012692" y="36667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060317" y="36240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107942" y="36454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155567" y="3602736"/>
            <a:ext cx="24765" cy="12801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203192" y="36667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250817" y="36880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298442" y="36454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346067" y="36240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617720" y="3200400"/>
            <a:ext cx="1920240" cy="749808"/>
          </a:xfrm>
          <a:prstGeom prst="roundRect">
            <a:avLst>
              <a:gd name="adj" fmla="val 4878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709160" y="3282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B03 臨時道路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6355080" y="3291840"/>
            <a:ext cx="73152" cy="7315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709160" y="35295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人員在場</a:t>
            </a:r>
            <a:endParaRPr lang="en-US" sz="560" dirty="0"/>
          </a:p>
        </p:txBody>
      </p:sp>
      <p:sp>
        <p:nvSpPr>
          <p:cNvPr id="148" name="Text 146"/>
          <p:cNvSpPr/>
          <p:nvPr/>
        </p:nvSpPr>
        <p:spPr>
          <a:xfrm>
            <a:off x="4709160" y="36667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74</a:t>
            </a:r>
            <a:endParaRPr lang="en-US" sz="1200" dirty="0"/>
          </a:p>
        </p:txBody>
      </p:sp>
      <p:sp>
        <p:nvSpPr>
          <p:cNvPr id="149" name="Text 147"/>
          <p:cNvSpPr/>
          <p:nvPr/>
        </p:nvSpPr>
        <p:spPr>
          <a:xfrm>
            <a:off x="5303520" y="35295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車輛在場</a:t>
            </a:r>
            <a:endParaRPr lang="en-US" sz="560" dirty="0"/>
          </a:p>
        </p:txBody>
      </p:sp>
      <p:sp>
        <p:nvSpPr>
          <p:cNvPr id="150" name="Text 148"/>
          <p:cNvSpPr/>
          <p:nvPr/>
        </p:nvSpPr>
        <p:spPr>
          <a:xfrm>
            <a:off x="5303520" y="36667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200" dirty="0"/>
          </a:p>
        </p:txBody>
      </p:sp>
      <p:sp>
        <p:nvSpPr>
          <p:cNvPr id="151" name="Shape 149"/>
          <p:cNvSpPr/>
          <p:nvPr/>
        </p:nvSpPr>
        <p:spPr>
          <a:xfrm>
            <a:off x="5879592" y="3493008"/>
            <a:ext cx="548640" cy="384048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879592" y="3709416"/>
            <a:ext cx="24765" cy="2133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927217" y="36880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974842" y="36880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22467" y="36454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70092" y="36667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117717" y="36240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65342" y="36454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212967" y="3602736"/>
            <a:ext cx="24765" cy="12801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260592" y="36667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308217" y="36880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355842" y="36454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403467" y="36240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675120" y="3200400"/>
            <a:ext cx="1920240" cy="749808"/>
          </a:xfrm>
          <a:prstGeom prst="roundRect">
            <a:avLst>
              <a:gd name="adj" fmla="val 4878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766560" y="3282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B04 西側門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8412480" y="3291840"/>
            <a:ext cx="73152" cy="7315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6766560" y="35295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人員在場</a:t>
            </a:r>
            <a:endParaRPr lang="en-US" sz="560" dirty="0"/>
          </a:p>
        </p:txBody>
      </p:sp>
      <p:sp>
        <p:nvSpPr>
          <p:cNvPr id="168" name="Text 166"/>
          <p:cNvSpPr/>
          <p:nvPr/>
        </p:nvSpPr>
        <p:spPr>
          <a:xfrm>
            <a:off x="6766560" y="36667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33</a:t>
            </a:r>
            <a:endParaRPr lang="en-US" sz="1200" dirty="0"/>
          </a:p>
        </p:txBody>
      </p:sp>
      <p:sp>
        <p:nvSpPr>
          <p:cNvPr id="169" name="Text 167"/>
          <p:cNvSpPr/>
          <p:nvPr/>
        </p:nvSpPr>
        <p:spPr>
          <a:xfrm>
            <a:off x="7360920" y="35295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車輛在場</a:t>
            </a:r>
            <a:endParaRPr lang="en-US" sz="560" dirty="0"/>
          </a:p>
        </p:txBody>
      </p:sp>
      <p:sp>
        <p:nvSpPr>
          <p:cNvPr id="170" name="Text 168"/>
          <p:cNvSpPr/>
          <p:nvPr/>
        </p:nvSpPr>
        <p:spPr>
          <a:xfrm>
            <a:off x="7360920" y="36667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200" dirty="0"/>
          </a:p>
        </p:txBody>
      </p:sp>
      <p:sp>
        <p:nvSpPr>
          <p:cNvPr id="171" name="Shape 169"/>
          <p:cNvSpPr/>
          <p:nvPr/>
        </p:nvSpPr>
        <p:spPr>
          <a:xfrm>
            <a:off x="7936992" y="3493008"/>
            <a:ext cx="548640" cy="384048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936992" y="3709416"/>
            <a:ext cx="24765" cy="2133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984617" y="36880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032242" y="36880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079867" y="36454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127492" y="36667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175117" y="36240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222742" y="36454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270367" y="3602736"/>
            <a:ext cx="24765" cy="12801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317992" y="36667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365617" y="36880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413242" y="36454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460867" y="36240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502920" y="4114800"/>
            <a:ext cx="1920240" cy="749808"/>
          </a:xfrm>
          <a:prstGeom prst="roundRect">
            <a:avLst>
              <a:gd name="adj" fmla="val 4878"/>
            </a:avLst>
          </a:prstGeom>
          <a:solidFill>
            <a:srgbClr val="0D1B2E"/>
          </a:solidFill>
          <a:ln w="12700">
            <a:solidFill>
              <a:srgbClr val="FF4D4F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594360" y="41970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C01 宿舍區</a:t>
            </a:r>
            <a:endParaRPr lang="en-US" sz="750" dirty="0"/>
          </a:p>
        </p:txBody>
      </p:sp>
      <p:sp>
        <p:nvSpPr>
          <p:cNvPr id="186" name="Shape 184"/>
          <p:cNvSpPr/>
          <p:nvPr/>
        </p:nvSpPr>
        <p:spPr>
          <a:xfrm>
            <a:off x="2240280" y="4206240"/>
            <a:ext cx="73152" cy="73152"/>
          </a:xfrm>
          <a:prstGeom prst="ellipse">
            <a:avLst/>
          </a:prstGeom>
          <a:solidFill>
            <a:srgbClr val="FF4D4F"/>
          </a:solidFill>
          <a:ln w="12700">
            <a:solidFill>
              <a:srgbClr val="FF4D4F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594360" y="44439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人員在場</a:t>
            </a:r>
            <a:endParaRPr lang="en-US" sz="560" dirty="0"/>
          </a:p>
        </p:txBody>
      </p:sp>
      <p:sp>
        <p:nvSpPr>
          <p:cNvPr id="188" name="Text 186"/>
          <p:cNvSpPr/>
          <p:nvPr/>
        </p:nvSpPr>
        <p:spPr>
          <a:xfrm>
            <a:off x="594360" y="45811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92</a:t>
            </a:r>
            <a:endParaRPr lang="en-US" sz="1200" dirty="0"/>
          </a:p>
        </p:txBody>
      </p:sp>
      <p:sp>
        <p:nvSpPr>
          <p:cNvPr id="189" name="Text 187"/>
          <p:cNvSpPr/>
          <p:nvPr/>
        </p:nvSpPr>
        <p:spPr>
          <a:xfrm>
            <a:off x="1188720" y="44439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車輛在場</a:t>
            </a:r>
            <a:endParaRPr lang="en-US" sz="560" dirty="0"/>
          </a:p>
        </p:txBody>
      </p:sp>
      <p:sp>
        <p:nvSpPr>
          <p:cNvPr id="190" name="Text 188"/>
          <p:cNvSpPr/>
          <p:nvPr/>
        </p:nvSpPr>
        <p:spPr>
          <a:xfrm>
            <a:off x="1188720" y="45811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200" dirty="0"/>
          </a:p>
        </p:txBody>
      </p:sp>
      <p:sp>
        <p:nvSpPr>
          <p:cNvPr id="191" name="Shape 189"/>
          <p:cNvSpPr/>
          <p:nvPr/>
        </p:nvSpPr>
        <p:spPr>
          <a:xfrm>
            <a:off x="1764792" y="4407408"/>
            <a:ext cx="548640" cy="384048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764792" y="4623816"/>
            <a:ext cx="24765" cy="2133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812417" y="46024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860042" y="46024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907667" y="45598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955292" y="45811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2002917" y="45384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2050542" y="45598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2098167" y="4517136"/>
            <a:ext cx="24765" cy="12801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2145792" y="45811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193417" y="46024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2241042" y="45598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2288667" y="45384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2560320" y="4114800"/>
            <a:ext cx="1920240" cy="749808"/>
          </a:xfrm>
          <a:prstGeom prst="roundRect">
            <a:avLst>
              <a:gd name="adj" fmla="val 4878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2651760" y="41970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C02 吊車區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4297680" y="4206240"/>
            <a:ext cx="73152" cy="7315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2651760" y="44439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人員在場</a:t>
            </a:r>
            <a:endParaRPr lang="en-US" sz="560" dirty="0"/>
          </a:p>
        </p:txBody>
      </p:sp>
      <p:sp>
        <p:nvSpPr>
          <p:cNvPr id="208" name="Text 206"/>
          <p:cNvSpPr/>
          <p:nvPr/>
        </p:nvSpPr>
        <p:spPr>
          <a:xfrm>
            <a:off x="2651760" y="45811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45</a:t>
            </a:r>
            <a:endParaRPr lang="en-US" sz="1200" dirty="0"/>
          </a:p>
        </p:txBody>
      </p:sp>
      <p:sp>
        <p:nvSpPr>
          <p:cNvPr id="209" name="Text 207"/>
          <p:cNvSpPr/>
          <p:nvPr/>
        </p:nvSpPr>
        <p:spPr>
          <a:xfrm>
            <a:off x="3246120" y="44439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車輛在場</a:t>
            </a:r>
            <a:endParaRPr lang="en-US" sz="560" dirty="0"/>
          </a:p>
        </p:txBody>
      </p:sp>
      <p:sp>
        <p:nvSpPr>
          <p:cNvPr id="210" name="Text 208"/>
          <p:cNvSpPr/>
          <p:nvPr/>
        </p:nvSpPr>
        <p:spPr>
          <a:xfrm>
            <a:off x="3246120" y="45811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200" dirty="0"/>
          </a:p>
        </p:txBody>
      </p:sp>
      <p:sp>
        <p:nvSpPr>
          <p:cNvPr id="211" name="Shape 209"/>
          <p:cNvSpPr/>
          <p:nvPr/>
        </p:nvSpPr>
        <p:spPr>
          <a:xfrm>
            <a:off x="3822192" y="4407408"/>
            <a:ext cx="548640" cy="384048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3822192" y="4623816"/>
            <a:ext cx="24765" cy="2133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3869817" y="46024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3917442" y="46024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3965067" y="45598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4012692" y="45811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4060317" y="45384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107942" y="45598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155567" y="4517136"/>
            <a:ext cx="24765" cy="12801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203192" y="45811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250817" y="46024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298442" y="45598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346067" y="45384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617720" y="4114800"/>
            <a:ext cx="1920240" cy="749808"/>
          </a:xfrm>
          <a:prstGeom prst="roundRect">
            <a:avLst>
              <a:gd name="adj" fmla="val 4878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4709160" y="41970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C03 倉儲區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6355080" y="4206240"/>
            <a:ext cx="73152" cy="7315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4709160" y="44439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人員在場</a:t>
            </a:r>
            <a:endParaRPr lang="en-US" sz="560" dirty="0"/>
          </a:p>
        </p:txBody>
      </p:sp>
      <p:sp>
        <p:nvSpPr>
          <p:cNvPr id="228" name="Text 226"/>
          <p:cNvSpPr/>
          <p:nvPr/>
        </p:nvSpPr>
        <p:spPr>
          <a:xfrm>
            <a:off x="4709160" y="45811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67</a:t>
            </a:r>
            <a:endParaRPr lang="en-US" sz="1200" dirty="0"/>
          </a:p>
        </p:txBody>
      </p:sp>
      <p:sp>
        <p:nvSpPr>
          <p:cNvPr id="229" name="Text 227"/>
          <p:cNvSpPr/>
          <p:nvPr/>
        </p:nvSpPr>
        <p:spPr>
          <a:xfrm>
            <a:off x="5303520" y="44439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車輛在場</a:t>
            </a:r>
            <a:endParaRPr lang="en-US" sz="560" dirty="0"/>
          </a:p>
        </p:txBody>
      </p:sp>
      <p:sp>
        <p:nvSpPr>
          <p:cNvPr id="230" name="Text 228"/>
          <p:cNvSpPr/>
          <p:nvPr/>
        </p:nvSpPr>
        <p:spPr>
          <a:xfrm>
            <a:off x="5303520" y="45811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200" dirty="0"/>
          </a:p>
        </p:txBody>
      </p:sp>
      <p:sp>
        <p:nvSpPr>
          <p:cNvPr id="231" name="Shape 229"/>
          <p:cNvSpPr/>
          <p:nvPr/>
        </p:nvSpPr>
        <p:spPr>
          <a:xfrm>
            <a:off x="5879592" y="4407408"/>
            <a:ext cx="548640" cy="384048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5879592" y="4623816"/>
            <a:ext cx="24765" cy="2133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5927217" y="46024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5974842" y="46024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022467" y="45598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070092" y="45811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117717" y="45384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165342" y="45598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212967" y="4517136"/>
            <a:ext cx="24765" cy="12801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260592" y="45811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6308217" y="46024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355842" y="45598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403467" y="45384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675120" y="4114800"/>
            <a:ext cx="1920240" cy="749808"/>
          </a:xfrm>
          <a:prstGeom prst="roundRect">
            <a:avLst>
              <a:gd name="adj" fmla="val 4878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6766560" y="41970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C04 試運轉</a:t>
            </a:r>
            <a:endParaRPr lang="en-US" sz="750" dirty="0"/>
          </a:p>
        </p:txBody>
      </p:sp>
      <p:sp>
        <p:nvSpPr>
          <p:cNvPr id="246" name="Shape 244"/>
          <p:cNvSpPr/>
          <p:nvPr/>
        </p:nvSpPr>
        <p:spPr>
          <a:xfrm>
            <a:off x="8412480" y="4206240"/>
            <a:ext cx="73152" cy="7315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6766560" y="44439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人員在場</a:t>
            </a:r>
            <a:endParaRPr lang="en-US" sz="560" dirty="0"/>
          </a:p>
        </p:txBody>
      </p:sp>
      <p:sp>
        <p:nvSpPr>
          <p:cNvPr id="248" name="Text 246"/>
          <p:cNvSpPr/>
          <p:nvPr/>
        </p:nvSpPr>
        <p:spPr>
          <a:xfrm>
            <a:off x="6766560" y="45811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57</a:t>
            </a:r>
            <a:endParaRPr lang="en-US" sz="1200" dirty="0"/>
          </a:p>
        </p:txBody>
      </p:sp>
      <p:sp>
        <p:nvSpPr>
          <p:cNvPr id="249" name="Text 247"/>
          <p:cNvSpPr/>
          <p:nvPr/>
        </p:nvSpPr>
        <p:spPr>
          <a:xfrm>
            <a:off x="7360920" y="44439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車輛在場</a:t>
            </a:r>
            <a:endParaRPr lang="en-US" sz="560" dirty="0"/>
          </a:p>
        </p:txBody>
      </p:sp>
      <p:sp>
        <p:nvSpPr>
          <p:cNvPr id="250" name="Text 248"/>
          <p:cNvSpPr/>
          <p:nvPr/>
        </p:nvSpPr>
        <p:spPr>
          <a:xfrm>
            <a:off x="7360920" y="45811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200" dirty="0"/>
          </a:p>
        </p:txBody>
      </p:sp>
      <p:sp>
        <p:nvSpPr>
          <p:cNvPr id="251" name="Shape 249"/>
          <p:cNvSpPr/>
          <p:nvPr/>
        </p:nvSpPr>
        <p:spPr>
          <a:xfrm>
            <a:off x="7936992" y="4407408"/>
            <a:ext cx="548640" cy="384048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936992" y="4623816"/>
            <a:ext cx="24765" cy="2133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984617" y="46024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032242" y="46024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8079867" y="45598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8127492" y="45811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175117" y="45384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8222742" y="45598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8270367" y="4517136"/>
            <a:ext cx="24765" cy="128016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8317992" y="4581144"/>
            <a:ext cx="24765" cy="64008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8365617" y="4602480"/>
            <a:ext cx="24765" cy="42672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8413242" y="4559808"/>
            <a:ext cx="24765" cy="85344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8460867" y="4538472"/>
            <a:ext cx="24765" cy="106680"/>
          </a:xfrm>
          <a:prstGeom prst="rect">
            <a:avLst/>
          </a:prstGeom>
          <a:solidFill>
            <a:srgbClr val="3A86FF">
              <a:alpha val="93000"/>
            </a:srgbClr>
          </a:solidFill>
          <a:ln w="12700">
            <a:solidFill>
              <a:srgbClr val="3A86FF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8915400" y="868680"/>
            <a:ext cx="2697480" cy="5074920"/>
          </a:xfrm>
          <a:prstGeom prst="roundRect">
            <a:avLst>
              <a:gd name="adj" fmla="val 2034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9144000" y="1069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最新進出快訊</a:t>
            </a:r>
            <a:endParaRPr lang="en-US" sz="1200" dirty="0"/>
          </a:p>
        </p:txBody>
      </p:sp>
      <p:sp>
        <p:nvSpPr>
          <p:cNvPr id="266" name="Shape 264"/>
          <p:cNvSpPr/>
          <p:nvPr/>
        </p:nvSpPr>
        <p:spPr>
          <a:xfrm>
            <a:off x="9144000" y="1481328"/>
            <a:ext cx="2240280" cy="530352"/>
          </a:xfrm>
          <a:prstGeom prst="roundRect">
            <a:avLst>
              <a:gd name="adj" fmla="val 6897"/>
            </a:avLst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pic>
        <p:nvPicPr>
          <p:cNvPr id="267" name="Image 0" descr="/mnt/data/a_high_angle_surveillance_camera_style_outdoor_sce.png"/>
          <p:cNvPicPr>
            <a:picLocks noChangeAspect="1"/>
          </p:cNvPicPr>
          <p:nvPr/>
        </p:nvPicPr>
        <p:blipFill>
          <a:blip r:embed="rId3"/>
          <a:srcRect l="17279" r="17279"/>
          <a:stretch/>
        </p:blipFill>
        <p:spPr>
          <a:xfrm>
            <a:off x="9208008" y="1545336"/>
            <a:ext cx="457200" cy="393192"/>
          </a:xfrm>
          <a:prstGeom prst="rect">
            <a:avLst/>
          </a:prstGeom>
        </p:spPr>
      </p:pic>
      <p:sp>
        <p:nvSpPr>
          <p:cNvPr id="268" name="Text 265"/>
          <p:cNvSpPr/>
          <p:nvPr/>
        </p:nvSpPr>
        <p:spPr>
          <a:xfrm>
            <a:off x="9747504" y="155448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</a:t>
            </a:r>
            <a:endParaRPr lang="en-US" sz="700" dirty="0"/>
          </a:p>
        </p:txBody>
      </p:sp>
      <p:sp>
        <p:nvSpPr>
          <p:cNvPr id="269" name="Text 266"/>
          <p:cNvSpPr/>
          <p:nvPr/>
        </p:nvSpPr>
        <p:spPr>
          <a:xfrm>
            <a:off x="10671048" y="1554480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14:32</a:t>
            </a:r>
            <a:endParaRPr lang="en-US" sz="650" dirty="0"/>
          </a:p>
        </p:txBody>
      </p:sp>
      <p:sp>
        <p:nvSpPr>
          <p:cNvPr id="270" name="Text 267"/>
          <p:cNvSpPr/>
          <p:nvPr/>
        </p:nvSpPr>
        <p:spPr>
          <a:xfrm>
            <a:off x="9747504" y="1709928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ABC-5288</a:t>
            </a:r>
            <a:endParaRPr lang="en-US" sz="850" dirty="0"/>
          </a:p>
        </p:txBody>
      </p:sp>
      <p:sp>
        <p:nvSpPr>
          <p:cNvPr id="271" name="Text 268"/>
          <p:cNvSpPr/>
          <p:nvPr/>
        </p:nvSpPr>
        <p:spPr>
          <a:xfrm>
            <a:off x="9747504" y="186537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A03 · 砂石車 · 大榮土木</a:t>
            </a:r>
            <a:endParaRPr lang="en-US" sz="620" dirty="0"/>
          </a:p>
        </p:txBody>
      </p:sp>
      <p:sp>
        <p:nvSpPr>
          <p:cNvPr id="272" name="Text 269"/>
          <p:cNvSpPr/>
          <p:nvPr/>
        </p:nvSpPr>
        <p:spPr>
          <a:xfrm>
            <a:off x="10652760" y="1755648"/>
            <a:ext cx="594360" cy="146304"/>
          </a:xfrm>
          <a:prstGeom prst="rect">
            <a:avLst/>
          </a:prstGeom>
          <a:solidFill>
            <a:srgbClr val="07111F"/>
          </a:solidFill>
          <a:ln>
            <a:solidFill>
              <a:srgbClr val="2ED573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白名單</a:t>
            </a:r>
            <a:endParaRPr lang="en-US" sz="580" dirty="0"/>
          </a:p>
        </p:txBody>
      </p:sp>
      <p:sp>
        <p:nvSpPr>
          <p:cNvPr id="273" name="Shape 270"/>
          <p:cNvSpPr/>
          <p:nvPr/>
        </p:nvSpPr>
        <p:spPr>
          <a:xfrm>
            <a:off x="9144000" y="2139696"/>
            <a:ext cx="2240280" cy="530352"/>
          </a:xfrm>
          <a:prstGeom prst="roundRect">
            <a:avLst>
              <a:gd name="adj" fmla="val 6897"/>
            </a:avLst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pic>
        <p:nvPicPr>
          <p:cNvPr id="274" name="Image 1" descr="/mnt/data/a_realistic_front_facing_close_up_portrait_photo.png"/>
          <p:cNvPicPr>
            <a:picLocks noChangeAspect="1"/>
          </p:cNvPicPr>
          <p:nvPr/>
        </p:nvPicPr>
        <p:blipFill>
          <a:blip r:embed="rId4"/>
          <a:srcRect l="6395" r="6395"/>
          <a:stretch/>
        </p:blipFill>
        <p:spPr>
          <a:xfrm>
            <a:off x="9208008" y="2203704"/>
            <a:ext cx="457200" cy="393192"/>
          </a:xfrm>
          <a:prstGeom prst="rect">
            <a:avLst/>
          </a:prstGeom>
        </p:spPr>
      </p:pic>
      <p:sp>
        <p:nvSpPr>
          <p:cNvPr id="275" name="Text 271"/>
          <p:cNvSpPr/>
          <p:nvPr/>
        </p:nvSpPr>
        <p:spPr>
          <a:xfrm>
            <a:off x="9747504" y="2212848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</a:t>
            </a:r>
            <a:endParaRPr lang="en-US" sz="700" dirty="0"/>
          </a:p>
        </p:txBody>
      </p:sp>
      <p:sp>
        <p:nvSpPr>
          <p:cNvPr id="276" name="Text 272"/>
          <p:cNvSpPr/>
          <p:nvPr/>
        </p:nvSpPr>
        <p:spPr>
          <a:xfrm>
            <a:off x="10671048" y="22128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14:31</a:t>
            </a:r>
            <a:endParaRPr lang="en-US" sz="650" dirty="0"/>
          </a:p>
        </p:txBody>
      </p:sp>
      <p:sp>
        <p:nvSpPr>
          <p:cNvPr id="277" name="Text 273"/>
          <p:cNvSpPr/>
          <p:nvPr/>
        </p:nvSpPr>
        <p:spPr>
          <a:xfrm>
            <a:off x="9747504" y="2368296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王O明</a:t>
            </a:r>
            <a:endParaRPr lang="en-US" sz="850" dirty="0"/>
          </a:p>
        </p:txBody>
      </p:sp>
      <p:sp>
        <p:nvSpPr>
          <p:cNvPr id="278" name="Text 274"/>
          <p:cNvSpPr/>
          <p:nvPr/>
        </p:nvSpPr>
        <p:spPr>
          <a:xfrm>
            <a:off x="9747504" y="252374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B01 · 建築工 · 證照有效</a:t>
            </a:r>
            <a:endParaRPr lang="en-US" sz="620" dirty="0"/>
          </a:p>
        </p:txBody>
      </p:sp>
      <p:sp>
        <p:nvSpPr>
          <p:cNvPr id="279" name="Text 275"/>
          <p:cNvSpPr/>
          <p:nvPr/>
        </p:nvSpPr>
        <p:spPr>
          <a:xfrm>
            <a:off x="10652760" y="2414016"/>
            <a:ext cx="594360" cy="146304"/>
          </a:xfrm>
          <a:prstGeom prst="rect">
            <a:avLst/>
          </a:prstGeom>
          <a:solidFill>
            <a:srgbClr val="07111F"/>
          </a:solidFill>
          <a:ln>
            <a:solidFill>
              <a:srgbClr val="32D5FF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通行</a:t>
            </a:r>
            <a:endParaRPr lang="en-US" sz="580" dirty="0"/>
          </a:p>
        </p:txBody>
      </p:sp>
      <p:sp>
        <p:nvSpPr>
          <p:cNvPr id="280" name="Shape 276"/>
          <p:cNvSpPr/>
          <p:nvPr/>
        </p:nvSpPr>
        <p:spPr>
          <a:xfrm>
            <a:off x="9144000" y="2798064"/>
            <a:ext cx="2240280" cy="530352"/>
          </a:xfrm>
          <a:prstGeom prst="roundRect">
            <a:avLst>
              <a:gd name="adj" fmla="val 6897"/>
            </a:avLst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pic>
        <p:nvPicPr>
          <p:cNvPr id="281" name="Image 2" descr="/mnt/data/a_wide_angle_slightly_elevated_cctv_like_view_of.png"/>
          <p:cNvPicPr>
            <a:picLocks noChangeAspect="1"/>
          </p:cNvPicPr>
          <p:nvPr/>
        </p:nvPicPr>
        <p:blipFill>
          <a:blip r:embed="rId5"/>
          <a:srcRect l="17279" r="17279"/>
          <a:stretch/>
        </p:blipFill>
        <p:spPr>
          <a:xfrm>
            <a:off x="9208008" y="2862072"/>
            <a:ext cx="457200" cy="393192"/>
          </a:xfrm>
          <a:prstGeom prst="rect">
            <a:avLst/>
          </a:prstGeom>
        </p:spPr>
      </p:pic>
      <p:sp>
        <p:nvSpPr>
          <p:cNvPr id="282" name="Text 277"/>
          <p:cNvSpPr/>
          <p:nvPr/>
        </p:nvSpPr>
        <p:spPr>
          <a:xfrm>
            <a:off x="9747504" y="2871216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出</a:t>
            </a:r>
            <a:endParaRPr lang="en-US" sz="700" dirty="0"/>
          </a:p>
        </p:txBody>
      </p:sp>
      <p:sp>
        <p:nvSpPr>
          <p:cNvPr id="283" name="Text 278"/>
          <p:cNvSpPr/>
          <p:nvPr/>
        </p:nvSpPr>
        <p:spPr>
          <a:xfrm>
            <a:off x="10671048" y="2871216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14:30</a:t>
            </a:r>
            <a:endParaRPr lang="en-US" sz="650" dirty="0"/>
          </a:p>
        </p:txBody>
      </p:sp>
      <p:sp>
        <p:nvSpPr>
          <p:cNvPr id="284" name="Text 279"/>
          <p:cNvSpPr/>
          <p:nvPr/>
        </p:nvSpPr>
        <p:spPr>
          <a:xfrm>
            <a:off x="9747504" y="3026664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KLM-0921</a:t>
            </a:r>
            <a:endParaRPr lang="en-US" sz="850" dirty="0"/>
          </a:p>
        </p:txBody>
      </p:sp>
      <p:sp>
        <p:nvSpPr>
          <p:cNvPr id="285" name="Text 280"/>
          <p:cNvSpPr/>
          <p:nvPr/>
        </p:nvSpPr>
        <p:spPr>
          <a:xfrm>
            <a:off x="9747504" y="318211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C02 · 小貨車 · 隆泰工程</a:t>
            </a:r>
            <a:endParaRPr lang="en-US" sz="620" dirty="0"/>
          </a:p>
        </p:txBody>
      </p:sp>
      <p:sp>
        <p:nvSpPr>
          <p:cNvPr id="286" name="Text 281"/>
          <p:cNvSpPr/>
          <p:nvPr/>
        </p:nvSpPr>
        <p:spPr>
          <a:xfrm>
            <a:off x="10652760" y="3072384"/>
            <a:ext cx="594360" cy="146304"/>
          </a:xfrm>
          <a:prstGeom prst="rect">
            <a:avLst/>
          </a:prstGeom>
          <a:solidFill>
            <a:srgbClr val="07111F"/>
          </a:solidFill>
          <a:ln>
            <a:solidFill>
              <a:srgbClr val="FFB020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白名單</a:t>
            </a:r>
            <a:endParaRPr lang="en-US" sz="580" dirty="0"/>
          </a:p>
        </p:txBody>
      </p:sp>
      <p:sp>
        <p:nvSpPr>
          <p:cNvPr id="287" name="Shape 282"/>
          <p:cNvSpPr/>
          <p:nvPr/>
        </p:nvSpPr>
        <p:spPr>
          <a:xfrm>
            <a:off x="9144000" y="3456432"/>
            <a:ext cx="2240280" cy="530352"/>
          </a:xfrm>
          <a:prstGeom prst="roundRect">
            <a:avLst>
              <a:gd name="adj" fmla="val 6897"/>
            </a:avLst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pic>
        <p:nvPicPr>
          <p:cNvPr id="288" name="Image 3" descr="/mnt/data/a_high_angle_surveillance_camera_style_outdoor_sce.png"/>
          <p:cNvPicPr>
            <a:picLocks noChangeAspect="1"/>
          </p:cNvPicPr>
          <p:nvPr/>
        </p:nvPicPr>
        <p:blipFill>
          <a:blip r:embed="rId3"/>
          <a:srcRect l="17279" r="17279"/>
          <a:stretch/>
        </p:blipFill>
        <p:spPr>
          <a:xfrm>
            <a:off x="9208008" y="3520440"/>
            <a:ext cx="457200" cy="393192"/>
          </a:xfrm>
          <a:prstGeom prst="rect">
            <a:avLst/>
          </a:prstGeom>
        </p:spPr>
      </p:pic>
      <p:sp>
        <p:nvSpPr>
          <p:cNvPr id="289" name="Text 283"/>
          <p:cNvSpPr/>
          <p:nvPr/>
        </p:nvSpPr>
        <p:spPr>
          <a:xfrm>
            <a:off x="9747504" y="352958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D1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</a:t>
            </a:r>
            <a:endParaRPr lang="en-US" sz="700" dirty="0"/>
          </a:p>
        </p:txBody>
      </p:sp>
      <p:sp>
        <p:nvSpPr>
          <p:cNvPr id="290" name="Text 284"/>
          <p:cNvSpPr/>
          <p:nvPr/>
        </p:nvSpPr>
        <p:spPr>
          <a:xfrm>
            <a:off x="10671048" y="3529584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14:29</a:t>
            </a:r>
            <a:endParaRPr lang="en-US" sz="650" dirty="0"/>
          </a:p>
        </p:txBody>
      </p:sp>
      <p:sp>
        <p:nvSpPr>
          <p:cNvPr id="291" name="Text 285"/>
          <p:cNvSpPr/>
          <p:nvPr/>
        </p:nvSpPr>
        <p:spPr>
          <a:xfrm>
            <a:off x="9747504" y="368503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UNKNOWN-018</a:t>
            </a:r>
            <a:endParaRPr lang="en-US" sz="850" dirty="0"/>
          </a:p>
        </p:txBody>
      </p:sp>
      <p:sp>
        <p:nvSpPr>
          <p:cNvPr id="292" name="Text 286"/>
          <p:cNvSpPr/>
          <p:nvPr/>
        </p:nvSpPr>
        <p:spPr>
          <a:xfrm>
            <a:off x="9747504" y="384048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A02 · 陌生車牌 · 待確認</a:t>
            </a:r>
            <a:endParaRPr lang="en-US" sz="620" dirty="0"/>
          </a:p>
        </p:txBody>
      </p:sp>
      <p:sp>
        <p:nvSpPr>
          <p:cNvPr id="293" name="Text 287"/>
          <p:cNvSpPr/>
          <p:nvPr/>
        </p:nvSpPr>
        <p:spPr>
          <a:xfrm>
            <a:off x="10652760" y="3730752"/>
            <a:ext cx="594360" cy="146304"/>
          </a:xfrm>
          <a:prstGeom prst="rect">
            <a:avLst/>
          </a:prstGeom>
          <a:solidFill>
            <a:srgbClr val="07111F"/>
          </a:solidFill>
          <a:ln>
            <a:solidFill>
              <a:srgbClr val="FFD166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D1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陌生</a:t>
            </a:r>
            <a:endParaRPr lang="en-US" sz="580" dirty="0"/>
          </a:p>
        </p:txBody>
      </p:sp>
      <p:sp>
        <p:nvSpPr>
          <p:cNvPr id="294" name="Shape 288"/>
          <p:cNvSpPr/>
          <p:nvPr/>
        </p:nvSpPr>
        <p:spPr>
          <a:xfrm>
            <a:off x="9144000" y="4114800"/>
            <a:ext cx="2240280" cy="530352"/>
          </a:xfrm>
          <a:prstGeom prst="roundRect">
            <a:avLst>
              <a:gd name="adj" fmla="val 6897"/>
            </a:avLst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pic>
        <p:nvPicPr>
          <p:cNvPr id="295" name="Image 4" descr="/mnt/data/a_realistic_front_facing_close_up_portrait_photo.png"/>
          <p:cNvPicPr>
            <a:picLocks noChangeAspect="1"/>
          </p:cNvPicPr>
          <p:nvPr/>
        </p:nvPicPr>
        <p:blipFill>
          <a:blip r:embed="rId4"/>
          <a:srcRect l="6395" r="6395"/>
          <a:stretch/>
        </p:blipFill>
        <p:spPr>
          <a:xfrm>
            <a:off x="9208008" y="4178808"/>
            <a:ext cx="457200" cy="393192"/>
          </a:xfrm>
          <a:prstGeom prst="rect">
            <a:avLst/>
          </a:prstGeom>
        </p:spPr>
      </p:pic>
      <p:sp>
        <p:nvSpPr>
          <p:cNvPr id="296" name="Text 289"/>
          <p:cNvSpPr/>
          <p:nvPr/>
        </p:nvSpPr>
        <p:spPr>
          <a:xfrm>
            <a:off x="9747504" y="418795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4D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</a:t>
            </a:r>
            <a:endParaRPr lang="en-US" sz="700" dirty="0"/>
          </a:p>
        </p:txBody>
      </p:sp>
      <p:sp>
        <p:nvSpPr>
          <p:cNvPr id="297" name="Text 290"/>
          <p:cNvSpPr/>
          <p:nvPr/>
        </p:nvSpPr>
        <p:spPr>
          <a:xfrm>
            <a:off x="10671048" y="4187952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14:28</a:t>
            </a:r>
            <a:endParaRPr lang="en-US" sz="650" dirty="0"/>
          </a:p>
        </p:txBody>
      </p:sp>
      <p:sp>
        <p:nvSpPr>
          <p:cNvPr id="298" name="Text 291"/>
          <p:cNvSpPr/>
          <p:nvPr/>
        </p:nvSpPr>
        <p:spPr>
          <a:xfrm>
            <a:off x="9747504" y="434340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李O華</a:t>
            </a:r>
            <a:endParaRPr lang="en-US" sz="850" dirty="0"/>
          </a:p>
        </p:txBody>
      </p:sp>
      <p:sp>
        <p:nvSpPr>
          <p:cNvPr id="299" name="Text 292"/>
          <p:cNvSpPr/>
          <p:nvPr/>
        </p:nvSpPr>
        <p:spPr>
          <a:xfrm>
            <a:off x="9747504" y="449884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A03 · 電焊工 · 證照過期</a:t>
            </a:r>
            <a:endParaRPr lang="en-US" sz="620" dirty="0"/>
          </a:p>
        </p:txBody>
      </p:sp>
      <p:sp>
        <p:nvSpPr>
          <p:cNvPr id="300" name="Text 293"/>
          <p:cNvSpPr/>
          <p:nvPr/>
        </p:nvSpPr>
        <p:spPr>
          <a:xfrm>
            <a:off x="10652760" y="4389120"/>
            <a:ext cx="594360" cy="146304"/>
          </a:xfrm>
          <a:prstGeom prst="rect">
            <a:avLst/>
          </a:prstGeom>
          <a:solidFill>
            <a:srgbClr val="07111F"/>
          </a:solidFill>
          <a:ln>
            <a:solidFill>
              <a:srgbClr val="FF4D4F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4D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告警</a:t>
            </a:r>
            <a:endParaRPr lang="en-US" sz="580" dirty="0"/>
          </a:p>
        </p:txBody>
      </p:sp>
      <p:sp>
        <p:nvSpPr>
          <p:cNvPr id="301" name="Text 294"/>
          <p:cNvSpPr/>
          <p:nvPr/>
        </p:nvSpPr>
        <p:spPr>
          <a:xfrm>
            <a:off x="411480" y="655624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工地看板 UI 模板 · Standalone Display · 第 3 頁</a:t>
            </a:r>
            <a:endParaRPr lang="en-US" sz="600" dirty="0"/>
          </a:p>
        </p:txBody>
      </p:sp>
      <p:sp>
        <p:nvSpPr>
          <p:cNvPr id="302" name="Text 295"/>
          <p:cNvSpPr/>
          <p:nvPr/>
        </p:nvSpPr>
        <p:spPr>
          <a:xfrm>
            <a:off x="8321040" y="655624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資料刷新：API 即時推送優先；備援每 60 秒輪詢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單一工地看板模板：人員 + 車輛同屏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切換到特定工地後，最重要的數字、最新快訊、趨勢圖與截圖全部集中在同一畫面。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869680" y="274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工地：A03 機電棟工區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195560" y="201168"/>
            <a:ext cx="1280160" cy="256032"/>
          </a:xfrm>
          <a:prstGeom prst="rect">
            <a:avLst/>
          </a:prstGeom>
          <a:solidFill>
            <a:srgbClr val="0D1B2E"/>
          </a:solidFill>
          <a:ln>
            <a:solidFill>
              <a:srgbClr val="2ED573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最後更新 14:32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941832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人員進場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12648" y="1143000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186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12648" y="152704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今日累計人次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148840" y="86868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58568" y="941832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人員出場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258568" y="1143000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258568" y="152704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今日累計人次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794760" y="86868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4488" y="941832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目前在場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904488" y="1143000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904488" y="152704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人員即時在場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577840" y="86868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941832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車輛進場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87568" y="1143000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51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687568" y="152704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今日累計車次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223760" y="86868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488" y="941832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車輛出場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333488" y="1143000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D1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38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333488" y="152704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今日累計車次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869680" y="86868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79408" y="941832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車輛在場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979408" y="1143000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979408" y="152704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車輛即時在場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2920" y="20116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今日 0-24 小時進出趨勢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2286000"/>
            <a:ext cx="5715000" cy="2011680"/>
          </a:xfrm>
          <a:prstGeom prst="roundRect">
            <a:avLst>
              <a:gd name="adj" fmla="val 227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2606040"/>
            <a:ext cx="5257800" cy="1234440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3694176"/>
            <a:ext cx="197167" cy="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3730752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00</a:t>
            </a:r>
            <a:endParaRPr lang="en-US" sz="480" dirty="0"/>
          </a:p>
        </p:txBody>
      </p:sp>
      <p:sp>
        <p:nvSpPr>
          <p:cNvPr id="36" name="Shape 34"/>
          <p:cNvSpPr/>
          <p:nvPr/>
        </p:nvSpPr>
        <p:spPr>
          <a:xfrm>
            <a:off x="951547" y="3694176"/>
            <a:ext cx="197167" cy="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71575" y="3694176"/>
            <a:ext cx="197167" cy="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91603" y="3666221"/>
            <a:ext cx="197167" cy="27955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3315" y="3730752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480" dirty="0"/>
          </a:p>
        </p:txBody>
      </p:sp>
      <p:sp>
        <p:nvSpPr>
          <p:cNvPr id="40" name="Shape 38"/>
          <p:cNvSpPr/>
          <p:nvPr/>
        </p:nvSpPr>
        <p:spPr>
          <a:xfrm>
            <a:off x="1611630" y="3638267"/>
            <a:ext cx="197167" cy="55909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31657" y="3470540"/>
            <a:ext cx="197167" cy="223636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51685" y="3218949"/>
            <a:ext cx="197167" cy="475227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33397" y="3730752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480" dirty="0"/>
          </a:p>
        </p:txBody>
      </p:sp>
      <p:sp>
        <p:nvSpPr>
          <p:cNvPr id="44" name="Shape 42"/>
          <p:cNvSpPr/>
          <p:nvPr/>
        </p:nvSpPr>
        <p:spPr>
          <a:xfrm>
            <a:off x="2271713" y="2995313"/>
            <a:ext cx="197167" cy="698863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91740" y="3163040"/>
            <a:ext cx="197167" cy="531136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11768" y="2827586"/>
            <a:ext cx="197167" cy="86659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93480" y="3730752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480" dirty="0"/>
          </a:p>
        </p:txBody>
      </p:sp>
      <p:sp>
        <p:nvSpPr>
          <p:cNvPr id="48" name="Shape 46"/>
          <p:cNvSpPr/>
          <p:nvPr/>
        </p:nvSpPr>
        <p:spPr>
          <a:xfrm>
            <a:off x="2931795" y="2911450"/>
            <a:ext cx="197167" cy="782726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51822" y="3079177"/>
            <a:ext cx="197167" cy="614999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71850" y="2939404"/>
            <a:ext cx="197167" cy="754772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53562" y="3730752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480" dirty="0"/>
          </a:p>
        </p:txBody>
      </p:sp>
      <p:sp>
        <p:nvSpPr>
          <p:cNvPr id="52" name="Shape 50"/>
          <p:cNvSpPr/>
          <p:nvPr/>
        </p:nvSpPr>
        <p:spPr>
          <a:xfrm>
            <a:off x="3591877" y="2715768"/>
            <a:ext cx="197167" cy="978408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11905" y="2883495"/>
            <a:ext cx="197167" cy="810681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31933" y="3107131"/>
            <a:ext cx="197167" cy="587045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13645" y="3730752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480" dirty="0"/>
          </a:p>
        </p:txBody>
      </p:sp>
      <p:sp>
        <p:nvSpPr>
          <p:cNvPr id="56" name="Shape 54"/>
          <p:cNvSpPr/>
          <p:nvPr/>
        </p:nvSpPr>
        <p:spPr>
          <a:xfrm>
            <a:off x="4251960" y="3190995"/>
            <a:ext cx="197167" cy="503181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71987" y="3274858"/>
            <a:ext cx="197167" cy="419318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92015" y="3358722"/>
            <a:ext cx="197167" cy="335454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73727" y="3730752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480" dirty="0"/>
          </a:p>
        </p:txBody>
      </p:sp>
      <p:sp>
        <p:nvSpPr>
          <p:cNvPr id="60" name="Shape 58"/>
          <p:cNvSpPr/>
          <p:nvPr/>
        </p:nvSpPr>
        <p:spPr>
          <a:xfrm>
            <a:off x="4912042" y="3470540"/>
            <a:ext cx="197167" cy="223636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32070" y="3554403"/>
            <a:ext cx="197167" cy="139773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52097" y="3610312"/>
            <a:ext cx="197167" cy="83864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33810" y="3730752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480" dirty="0"/>
          </a:p>
        </p:txBody>
      </p:sp>
      <p:sp>
        <p:nvSpPr>
          <p:cNvPr id="64" name="Shape 62"/>
          <p:cNvSpPr/>
          <p:nvPr/>
        </p:nvSpPr>
        <p:spPr>
          <a:xfrm>
            <a:off x="5572125" y="3666221"/>
            <a:ext cx="197167" cy="27955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92153" y="3694176"/>
            <a:ext cx="197167" cy="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520" y="3840480"/>
            <a:ext cx="228600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960120" y="3840480"/>
            <a:ext cx="228600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1188720" y="3840480"/>
            <a:ext cx="228600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1417320" y="3840480"/>
            <a:ext cx="228600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1645920" y="3789045"/>
            <a:ext cx="228600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1874520" y="3634740"/>
            <a:ext cx="228600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2103120" y="3274695"/>
            <a:ext cx="228600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2331720" y="3068955"/>
            <a:ext cx="228600" cy="51435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2560320" y="3120390"/>
            <a:ext cx="228600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2788920" y="2811780"/>
            <a:ext cx="228600" cy="154305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3017520" y="2966085"/>
            <a:ext cx="228600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3246120" y="2914650"/>
            <a:ext cx="228600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3474720" y="2863215"/>
            <a:ext cx="228600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3703320" y="2657475"/>
            <a:ext cx="228600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3931920" y="2606040"/>
            <a:ext cx="228600" cy="257175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4160520" y="2863215"/>
            <a:ext cx="228600" cy="20574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4389120" y="3068955"/>
            <a:ext cx="228600" cy="154305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4617720" y="3223260"/>
            <a:ext cx="228600" cy="154305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4846320" y="3377565"/>
            <a:ext cx="228600" cy="154305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5074920" y="3531870"/>
            <a:ext cx="228600" cy="154305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5303520" y="3686175"/>
            <a:ext cx="228600" cy="51435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5532120" y="3737610"/>
            <a:ext cx="228600" cy="51435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5760720" y="3789045"/>
            <a:ext cx="228600" cy="51435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708660" y="3817620"/>
            <a:ext cx="45720" cy="457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080260" y="3251835"/>
            <a:ext cx="45720" cy="457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451860" y="2840355"/>
            <a:ext cx="45720" cy="457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823460" y="3354705"/>
            <a:ext cx="45720" cy="457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7240" y="4142232"/>
            <a:ext cx="73152" cy="73152"/>
          </a:xfrm>
          <a:prstGeom prst="rect">
            <a:avLst/>
          </a:prstGeom>
          <a:solidFill>
            <a:srgbClr val="32D5FF"/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86968" y="411480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人員進場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1490472" y="4142232"/>
            <a:ext cx="73152" cy="73152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600200" y="411480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車輛進場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6446520" y="20116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最新快訊與截圖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446520" y="2286000"/>
            <a:ext cx="5074920" cy="530352"/>
          </a:xfrm>
          <a:prstGeom prst="roundRect">
            <a:avLst>
              <a:gd name="adj" fmla="val 6897"/>
            </a:avLst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pic>
        <p:nvPicPr>
          <p:cNvPr id="99" name="Image 0" descr="/mnt/data/a_high_angle_surveillance_camera_style_outdoor_sce.png"/>
          <p:cNvPicPr>
            <a:picLocks noChangeAspect="1"/>
          </p:cNvPicPr>
          <p:nvPr/>
        </p:nvPicPr>
        <p:blipFill>
          <a:blip r:embed="rId3"/>
          <a:srcRect l="17279" r="17279"/>
          <a:stretch/>
        </p:blipFill>
        <p:spPr>
          <a:xfrm>
            <a:off x="6510528" y="2350008"/>
            <a:ext cx="457200" cy="393192"/>
          </a:xfrm>
          <a:prstGeom prst="rect">
            <a:avLst/>
          </a:prstGeom>
        </p:spPr>
      </p:pic>
      <p:sp>
        <p:nvSpPr>
          <p:cNvPr id="100" name="Text 97"/>
          <p:cNvSpPr/>
          <p:nvPr/>
        </p:nvSpPr>
        <p:spPr>
          <a:xfrm>
            <a:off x="7050024" y="235915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10808208" y="2359152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14:32</a:t>
            </a:r>
            <a:endParaRPr lang="en-US" sz="650" dirty="0"/>
          </a:p>
        </p:txBody>
      </p:sp>
      <p:sp>
        <p:nvSpPr>
          <p:cNvPr id="102" name="Text 99"/>
          <p:cNvSpPr/>
          <p:nvPr/>
        </p:nvSpPr>
        <p:spPr>
          <a:xfrm>
            <a:off x="7050024" y="251460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ABC-5288</a:t>
            </a:r>
            <a:endParaRPr lang="en-US" sz="850" dirty="0"/>
          </a:p>
        </p:txBody>
      </p:sp>
      <p:sp>
        <p:nvSpPr>
          <p:cNvPr id="103" name="Text 100"/>
          <p:cNvSpPr/>
          <p:nvPr/>
        </p:nvSpPr>
        <p:spPr>
          <a:xfrm>
            <a:off x="7050024" y="2670048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大榮土木 · 砂石車 · 閘門已開啟</a:t>
            </a:r>
            <a:endParaRPr lang="en-US" sz="620" dirty="0"/>
          </a:p>
        </p:txBody>
      </p:sp>
      <p:sp>
        <p:nvSpPr>
          <p:cNvPr id="104" name="Text 101"/>
          <p:cNvSpPr/>
          <p:nvPr/>
        </p:nvSpPr>
        <p:spPr>
          <a:xfrm>
            <a:off x="10789920" y="2560320"/>
            <a:ext cx="594360" cy="146304"/>
          </a:xfrm>
          <a:prstGeom prst="rect">
            <a:avLst/>
          </a:prstGeom>
          <a:solidFill>
            <a:srgbClr val="07111F"/>
          </a:solidFill>
          <a:ln>
            <a:solidFill>
              <a:srgbClr val="2ED573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白名單</a:t>
            </a:r>
            <a:endParaRPr lang="en-US" sz="580" dirty="0"/>
          </a:p>
        </p:txBody>
      </p:sp>
      <p:sp>
        <p:nvSpPr>
          <p:cNvPr id="105" name="Shape 102"/>
          <p:cNvSpPr/>
          <p:nvPr/>
        </p:nvSpPr>
        <p:spPr>
          <a:xfrm>
            <a:off x="6446520" y="2944368"/>
            <a:ext cx="5074920" cy="530352"/>
          </a:xfrm>
          <a:prstGeom prst="roundRect">
            <a:avLst>
              <a:gd name="adj" fmla="val 6897"/>
            </a:avLst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pic>
        <p:nvPicPr>
          <p:cNvPr id="106" name="Image 1" descr="/mnt/data/a_realistic_front_facing_close_up_portrait_photo.png"/>
          <p:cNvPicPr>
            <a:picLocks noChangeAspect="1"/>
          </p:cNvPicPr>
          <p:nvPr/>
        </p:nvPicPr>
        <p:blipFill>
          <a:blip r:embed="rId4"/>
          <a:srcRect l="6395" r="6395"/>
          <a:stretch/>
        </p:blipFill>
        <p:spPr>
          <a:xfrm>
            <a:off x="6510528" y="3008376"/>
            <a:ext cx="457200" cy="393192"/>
          </a:xfrm>
          <a:prstGeom prst="rect">
            <a:avLst/>
          </a:prstGeom>
        </p:spPr>
      </p:pic>
      <p:sp>
        <p:nvSpPr>
          <p:cNvPr id="107" name="Text 103"/>
          <p:cNvSpPr/>
          <p:nvPr/>
        </p:nvSpPr>
        <p:spPr>
          <a:xfrm>
            <a:off x="7050024" y="301752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</a:t>
            </a:r>
            <a:endParaRPr lang="en-US" sz="700" dirty="0"/>
          </a:p>
        </p:txBody>
      </p:sp>
      <p:sp>
        <p:nvSpPr>
          <p:cNvPr id="108" name="Text 104"/>
          <p:cNvSpPr/>
          <p:nvPr/>
        </p:nvSpPr>
        <p:spPr>
          <a:xfrm>
            <a:off x="10808208" y="3017520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14:31</a:t>
            </a:r>
            <a:endParaRPr lang="en-US" sz="650" dirty="0"/>
          </a:p>
        </p:txBody>
      </p:sp>
      <p:sp>
        <p:nvSpPr>
          <p:cNvPr id="109" name="Text 105"/>
          <p:cNvSpPr/>
          <p:nvPr/>
        </p:nvSpPr>
        <p:spPr>
          <a:xfrm>
            <a:off x="7050024" y="317296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王O明 / E-1029</a:t>
            </a:r>
            <a:endParaRPr lang="en-US" sz="850" dirty="0"/>
          </a:p>
        </p:txBody>
      </p:sp>
      <p:sp>
        <p:nvSpPr>
          <p:cNvPr id="110" name="Text 106"/>
          <p:cNvSpPr/>
          <p:nvPr/>
        </p:nvSpPr>
        <p:spPr>
          <a:xfrm>
            <a:off x="7050024" y="3328416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正興機電 · 高空作業證有效</a:t>
            </a:r>
            <a:endParaRPr lang="en-US" sz="620" dirty="0"/>
          </a:p>
        </p:txBody>
      </p:sp>
      <p:sp>
        <p:nvSpPr>
          <p:cNvPr id="111" name="Text 107"/>
          <p:cNvSpPr/>
          <p:nvPr/>
        </p:nvSpPr>
        <p:spPr>
          <a:xfrm>
            <a:off x="10789920" y="3218688"/>
            <a:ext cx="594360" cy="146304"/>
          </a:xfrm>
          <a:prstGeom prst="rect">
            <a:avLst/>
          </a:prstGeom>
          <a:solidFill>
            <a:srgbClr val="07111F"/>
          </a:solidFill>
          <a:ln>
            <a:solidFill>
              <a:srgbClr val="32D5FF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通行</a:t>
            </a:r>
            <a:endParaRPr lang="en-US" sz="580" dirty="0"/>
          </a:p>
        </p:txBody>
      </p:sp>
      <p:sp>
        <p:nvSpPr>
          <p:cNvPr id="112" name="Shape 108"/>
          <p:cNvSpPr/>
          <p:nvPr/>
        </p:nvSpPr>
        <p:spPr>
          <a:xfrm>
            <a:off x="6446520" y="3602736"/>
            <a:ext cx="5074920" cy="530352"/>
          </a:xfrm>
          <a:prstGeom prst="roundRect">
            <a:avLst>
              <a:gd name="adj" fmla="val 6897"/>
            </a:avLst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pic>
        <p:nvPicPr>
          <p:cNvPr id="113" name="Image 2" descr="/mnt/data/a_realistic_front_facing_close_up_portrait_photo.png"/>
          <p:cNvPicPr>
            <a:picLocks noChangeAspect="1"/>
          </p:cNvPicPr>
          <p:nvPr/>
        </p:nvPicPr>
        <p:blipFill>
          <a:blip r:embed="rId4"/>
          <a:srcRect l="6395" r="6395"/>
          <a:stretch/>
        </p:blipFill>
        <p:spPr>
          <a:xfrm>
            <a:off x="6510528" y="3666744"/>
            <a:ext cx="457200" cy="393192"/>
          </a:xfrm>
          <a:prstGeom prst="rect">
            <a:avLst/>
          </a:prstGeom>
        </p:spPr>
      </p:pic>
      <p:sp>
        <p:nvSpPr>
          <p:cNvPr id="114" name="Text 109"/>
          <p:cNvSpPr/>
          <p:nvPr/>
        </p:nvSpPr>
        <p:spPr>
          <a:xfrm>
            <a:off x="7050024" y="3675888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4D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</a:t>
            </a:r>
            <a:endParaRPr lang="en-US" sz="700" dirty="0"/>
          </a:p>
        </p:txBody>
      </p:sp>
      <p:sp>
        <p:nvSpPr>
          <p:cNvPr id="115" name="Text 110"/>
          <p:cNvSpPr/>
          <p:nvPr/>
        </p:nvSpPr>
        <p:spPr>
          <a:xfrm>
            <a:off x="10808208" y="367588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14:28</a:t>
            </a:r>
            <a:endParaRPr lang="en-US" sz="650" dirty="0"/>
          </a:p>
        </p:txBody>
      </p:sp>
      <p:sp>
        <p:nvSpPr>
          <p:cNvPr id="116" name="Text 111"/>
          <p:cNvSpPr/>
          <p:nvPr/>
        </p:nvSpPr>
        <p:spPr>
          <a:xfrm>
            <a:off x="7050024" y="3831336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李O華 / E-0981</a:t>
            </a:r>
            <a:endParaRPr lang="en-US" sz="850" dirty="0"/>
          </a:p>
        </p:txBody>
      </p:sp>
      <p:sp>
        <p:nvSpPr>
          <p:cNvPr id="117" name="Text 112"/>
          <p:cNvSpPr/>
          <p:nvPr/>
        </p:nvSpPr>
        <p:spPr>
          <a:xfrm>
            <a:off x="7050024" y="3986784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隆泰工程 · 電焊證過期</a:t>
            </a:r>
            <a:endParaRPr lang="en-US" sz="620" dirty="0"/>
          </a:p>
        </p:txBody>
      </p:sp>
      <p:sp>
        <p:nvSpPr>
          <p:cNvPr id="118" name="Text 113"/>
          <p:cNvSpPr/>
          <p:nvPr/>
        </p:nvSpPr>
        <p:spPr>
          <a:xfrm>
            <a:off x="10789920" y="3877056"/>
            <a:ext cx="594360" cy="146304"/>
          </a:xfrm>
          <a:prstGeom prst="rect">
            <a:avLst/>
          </a:prstGeom>
          <a:solidFill>
            <a:srgbClr val="07111F"/>
          </a:solidFill>
          <a:ln>
            <a:solidFill>
              <a:srgbClr val="FF4D4F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4D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告警</a:t>
            </a:r>
            <a:endParaRPr lang="en-US" sz="580" dirty="0"/>
          </a:p>
        </p:txBody>
      </p:sp>
      <p:sp>
        <p:nvSpPr>
          <p:cNvPr id="119" name="Text 114"/>
          <p:cNvSpPr/>
          <p:nvPr/>
        </p:nvSpPr>
        <p:spPr>
          <a:xfrm>
            <a:off x="502920" y="46634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現場影像參考</a:t>
            </a:r>
            <a:endParaRPr lang="en-US" sz="850" dirty="0"/>
          </a:p>
        </p:txBody>
      </p:sp>
      <p:pic>
        <p:nvPicPr>
          <p:cNvPr id="120" name="Image 3" descr="/mnt/data/a_wide_angle_slightly_elevated_cctv_like_view_of.png"/>
          <p:cNvPicPr>
            <a:picLocks noChangeAspect="1"/>
          </p:cNvPicPr>
          <p:nvPr/>
        </p:nvPicPr>
        <p:blipFill>
          <a:blip r:embed="rId5"/>
          <a:srcRect t="13589" b="13589"/>
          <a:stretch/>
        </p:blipFill>
        <p:spPr>
          <a:xfrm>
            <a:off x="502920" y="4937760"/>
            <a:ext cx="2788920" cy="1143000"/>
          </a:xfrm>
          <a:prstGeom prst="rect">
            <a:avLst/>
          </a:prstGeom>
        </p:spPr>
      </p:pic>
      <p:pic>
        <p:nvPicPr>
          <p:cNvPr id="121" name="Image 4" descr="/mnt/data/a_realistic_front_facing_close_up_portrait_photo.png"/>
          <p:cNvPicPr>
            <a:picLocks noChangeAspect="1"/>
          </p:cNvPicPr>
          <p:nvPr/>
        </p:nvPicPr>
        <p:blipFill>
          <a:blip r:embed="rId4"/>
          <a:srcRect l="18500" r="18500"/>
          <a:stretch/>
        </p:blipFill>
        <p:spPr>
          <a:xfrm>
            <a:off x="3474720" y="4937760"/>
            <a:ext cx="960120" cy="1143000"/>
          </a:xfrm>
          <a:prstGeom prst="rect">
            <a:avLst/>
          </a:prstGeom>
        </p:spPr>
      </p:pic>
      <p:pic>
        <p:nvPicPr>
          <p:cNvPr id="122" name="Image 5" descr="/mnt/data/a_high_angle_surveillance_camera_style_outdoor_sce.png"/>
          <p:cNvPicPr>
            <a:picLocks noChangeAspect="1"/>
          </p:cNvPicPr>
          <p:nvPr/>
        </p:nvPicPr>
        <p:blipFill>
          <a:blip r:embed="rId3"/>
          <a:srcRect l="3850" r="3850"/>
          <a:stretch/>
        </p:blipFill>
        <p:spPr>
          <a:xfrm>
            <a:off x="4617720" y="4937760"/>
            <a:ext cx="1874520" cy="1143000"/>
          </a:xfrm>
          <a:prstGeom prst="rect">
            <a:avLst/>
          </a:prstGeom>
        </p:spPr>
      </p:pic>
      <p:sp>
        <p:nvSpPr>
          <p:cNvPr id="123" name="Text 115"/>
          <p:cNvSpPr/>
          <p:nvPr/>
        </p:nvSpPr>
        <p:spPr>
          <a:xfrm>
            <a:off x="6446520" y="4864608"/>
            <a:ext cx="4937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快訊跳卡顯示 5-8 秒，可設定是否保留在右側最新清單。黑名單、證照過期、陌生車牌會優先顯示。</a:t>
            </a:r>
            <a:endParaRPr lang="en-US" sz="900" dirty="0"/>
          </a:p>
        </p:txBody>
      </p:sp>
      <p:sp>
        <p:nvSpPr>
          <p:cNvPr id="124" name="Text 116"/>
          <p:cNvSpPr/>
          <p:nvPr/>
        </p:nvSpPr>
        <p:spPr>
          <a:xfrm>
            <a:off x="411480" y="655624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工地看板 UI 模板 · Standalone Display · 第 4 頁</a:t>
            </a:r>
            <a:endParaRPr lang="en-US" sz="600" dirty="0"/>
          </a:p>
        </p:txBody>
      </p:sp>
      <p:sp>
        <p:nvSpPr>
          <p:cNvPr id="125" name="Text 117"/>
          <p:cNvSpPr/>
          <p:nvPr/>
        </p:nvSpPr>
        <p:spPr>
          <a:xfrm>
            <a:off x="8321040" y="655624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資料刷新：API 即時推送優先；備援每 60 秒輪詢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即時快訊跳卡模板：車牌與人臉同步彈出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當 API 收到新事件時，畫面右下或中央立即跳出大卡片，讓現場人員一眼判斷人員或車輛是否可通行。</a:t>
            </a:r>
            <a:endParaRPr lang="en-US" sz="850" dirty="0"/>
          </a:p>
        </p:txBody>
      </p:sp>
      <p:pic>
        <p:nvPicPr>
          <p:cNvPr id="5" name="Image 0" descr="/mnt/data/a_wide_angle_slightly_elevated_cctv_like_view_of.png"/>
          <p:cNvPicPr>
            <a:picLocks noChangeAspect="1"/>
          </p:cNvPicPr>
          <p:nvPr/>
        </p:nvPicPr>
        <p:blipFill>
          <a:blip r:embed="rId3"/>
          <a:srcRect l="3569" r="3569"/>
          <a:stretch/>
        </p:blipFill>
        <p:spPr>
          <a:xfrm>
            <a:off x="548640" y="914400"/>
            <a:ext cx="603504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914400"/>
            <a:ext cx="6035040" cy="36576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1605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主畫面仍維持工地影像與數字，最新事件以浮層跳卡方式顯示。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903720" y="914400"/>
            <a:ext cx="4526280" cy="1417320"/>
          </a:xfrm>
          <a:prstGeom prst="roundRect">
            <a:avLst>
              <a:gd name="adj" fmla="val 5161"/>
            </a:avLst>
          </a:prstGeom>
          <a:solidFill>
            <a:srgbClr val="0D1B2E"/>
          </a:solidFill>
          <a:ln w="12700">
            <a:solidFill>
              <a:srgbClr val="2ED573"/>
            </a:solidFill>
            <a:prstDash val="solid"/>
          </a:ln>
        </p:spPr>
      </p:sp>
      <p:pic>
        <p:nvPicPr>
          <p:cNvPr id="9" name="Image 1" descr="/mnt/data/a_high_angle_surveillance_camera_style_outdoor_sce.png"/>
          <p:cNvPicPr>
            <a:picLocks noChangeAspect="1"/>
          </p:cNvPicPr>
          <p:nvPr/>
        </p:nvPicPr>
        <p:blipFill>
          <a:blip r:embed="rId4"/>
          <a:srcRect l="16966" r="16966"/>
          <a:stretch/>
        </p:blipFill>
        <p:spPr>
          <a:xfrm>
            <a:off x="7086600" y="1078992"/>
            <a:ext cx="1234440" cy="10515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58200" y="10607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車輛進場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458200" y="13167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ABC-5288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458200" y="185623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大榮土木 · 砂石車 · 白名單 · 閘門已開啟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6903720" y="2606040"/>
            <a:ext cx="4526280" cy="1417320"/>
          </a:xfrm>
          <a:prstGeom prst="roundRect">
            <a:avLst>
              <a:gd name="adj" fmla="val 5161"/>
            </a:avLst>
          </a:prstGeom>
          <a:solidFill>
            <a:srgbClr val="0D1B2E"/>
          </a:solidFill>
          <a:ln w="12700">
            <a:solidFill>
              <a:srgbClr val="FF4D4F"/>
            </a:solidFill>
            <a:prstDash val="solid"/>
          </a:ln>
        </p:spPr>
      </p:sp>
      <p:pic>
        <p:nvPicPr>
          <p:cNvPr id="14" name="Image 2" descr="/mnt/data/a_realistic_front_facing_close_up_portrait_photo.png"/>
          <p:cNvPicPr>
            <a:picLocks noChangeAspect="1"/>
          </p:cNvPicPr>
          <p:nvPr/>
        </p:nvPicPr>
        <p:blipFill>
          <a:blip r:embed="rId5"/>
          <a:srcRect l="15761" r="15761"/>
          <a:stretch/>
        </p:blipFill>
        <p:spPr>
          <a:xfrm>
            <a:off x="7086600" y="2770632"/>
            <a:ext cx="960120" cy="10515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0" y="27706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D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人員進場告警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229600" y="30266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李O華 / E-0981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229600" y="35295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隆泰工程 · 電焊作業證過期 · 需人工確認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6903720" y="429768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0D1B2E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132320" y="45171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陌生車牌自動註冊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132320" y="48280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UNKNOWN-019 · 車輛截圖已保存 · 待管理平台確認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11480" y="655624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工地看板 UI 模板 · Standalone Display · 第 5 頁</a:t>
            </a:r>
            <a:endParaRPr lang="en-US" sz="600" dirty="0"/>
          </a:p>
        </p:txBody>
      </p:sp>
      <p:sp>
        <p:nvSpPr>
          <p:cNvPr id="22" name="Text 17"/>
          <p:cNvSpPr/>
          <p:nvPr/>
        </p:nvSpPr>
        <p:spPr>
          <a:xfrm>
            <a:off x="8321040" y="655624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資料刷新：API 即時推送優先；備援每 60 秒輪詢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人員進出看板模板：人臉截圖 + 證照狀態 + 24H 趨勢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對接人臉辨識平台，只顯示即時結果與統計，不做查詢與主檔維護。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941832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進場人次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12648" y="114300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186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12648" y="152704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今日 00:00 至目前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423160" y="86868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941832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離場人次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532888" y="114300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532888" y="152704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今日 00:00 至目前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343400" y="86868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3128" y="941832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目前在場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453128" y="114300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453128" y="152704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去重後估算人數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263640" y="86868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941832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證照異常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373368" y="114300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4D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373368" y="152704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過期 3 · 缺漏 2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2057400"/>
            <a:ext cx="5257800" cy="2926080"/>
          </a:xfrm>
          <a:prstGeom prst="roundRect">
            <a:avLst>
              <a:gd name="adj" fmla="val 15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2860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每小時人員進出趨勢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2697480"/>
            <a:ext cx="4800600" cy="1508760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059936"/>
            <a:ext cx="178118" cy="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096512"/>
            <a:ext cx="2146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00</a:t>
            </a:r>
            <a:endParaRPr lang="en-US" sz="480" dirty="0"/>
          </a:p>
        </p:txBody>
      </p:sp>
      <p:sp>
        <p:nvSpPr>
          <p:cNvPr id="26" name="Shape 24"/>
          <p:cNvSpPr/>
          <p:nvPr/>
        </p:nvSpPr>
        <p:spPr>
          <a:xfrm>
            <a:off x="932498" y="4059936"/>
            <a:ext cx="178118" cy="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475" y="4059936"/>
            <a:ext cx="178118" cy="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34453" y="4059936"/>
            <a:ext cx="178118" cy="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16165" y="4096512"/>
            <a:ext cx="2146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480" dirty="0"/>
          </a:p>
        </p:txBody>
      </p:sp>
      <p:sp>
        <p:nvSpPr>
          <p:cNvPr id="30" name="Shape 28"/>
          <p:cNvSpPr/>
          <p:nvPr/>
        </p:nvSpPr>
        <p:spPr>
          <a:xfrm>
            <a:off x="1535430" y="4014382"/>
            <a:ext cx="178118" cy="45554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36408" y="3786614"/>
            <a:ext cx="178118" cy="273322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37385" y="3422184"/>
            <a:ext cx="178118" cy="637752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19097" y="4096512"/>
            <a:ext cx="2146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480" dirty="0"/>
          </a:p>
        </p:txBody>
      </p:sp>
      <p:sp>
        <p:nvSpPr>
          <p:cNvPr id="34" name="Shape 32"/>
          <p:cNvSpPr/>
          <p:nvPr/>
        </p:nvSpPr>
        <p:spPr>
          <a:xfrm>
            <a:off x="2138363" y="3103307"/>
            <a:ext cx="178118" cy="956629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9340" y="3239969"/>
            <a:ext cx="178118" cy="819967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40318" y="2807208"/>
            <a:ext cx="178118" cy="1252728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22030" y="4096512"/>
            <a:ext cx="2146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480" dirty="0"/>
          </a:p>
        </p:txBody>
      </p:sp>
      <p:sp>
        <p:nvSpPr>
          <p:cNvPr id="38" name="Shape 36"/>
          <p:cNvSpPr/>
          <p:nvPr/>
        </p:nvSpPr>
        <p:spPr>
          <a:xfrm>
            <a:off x="2741295" y="2966646"/>
            <a:ext cx="178118" cy="109329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42273" y="3308299"/>
            <a:ext cx="178118" cy="751637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43250" y="3148861"/>
            <a:ext cx="178118" cy="911075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24962" y="4096512"/>
            <a:ext cx="2146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480" dirty="0"/>
          </a:p>
        </p:txBody>
      </p:sp>
      <p:sp>
        <p:nvSpPr>
          <p:cNvPr id="42" name="Shape 40"/>
          <p:cNvSpPr/>
          <p:nvPr/>
        </p:nvSpPr>
        <p:spPr>
          <a:xfrm>
            <a:off x="3344228" y="2875539"/>
            <a:ext cx="178118" cy="1184397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45205" y="3012200"/>
            <a:ext cx="178118" cy="1047736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46183" y="3376630"/>
            <a:ext cx="178118" cy="683306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27895" y="4096512"/>
            <a:ext cx="2146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480" dirty="0"/>
          </a:p>
        </p:txBody>
      </p:sp>
      <p:sp>
        <p:nvSpPr>
          <p:cNvPr id="46" name="Shape 44"/>
          <p:cNvSpPr/>
          <p:nvPr/>
        </p:nvSpPr>
        <p:spPr>
          <a:xfrm>
            <a:off x="3947160" y="3513291"/>
            <a:ext cx="178118" cy="546645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48137" y="3649952"/>
            <a:ext cx="178118" cy="409984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49115" y="3786614"/>
            <a:ext cx="178118" cy="273322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30827" y="4096512"/>
            <a:ext cx="2146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480" dirty="0"/>
          </a:p>
        </p:txBody>
      </p:sp>
      <p:sp>
        <p:nvSpPr>
          <p:cNvPr id="50" name="Shape 48"/>
          <p:cNvSpPr/>
          <p:nvPr/>
        </p:nvSpPr>
        <p:spPr>
          <a:xfrm>
            <a:off x="4550093" y="3877721"/>
            <a:ext cx="178118" cy="182215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1070" y="3968829"/>
            <a:ext cx="178118" cy="91107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52047" y="4014382"/>
            <a:ext cx="178118" cy="45554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3760" y="4096512"/>
            <a:ext cx="2146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480" dirty="0"/>
          </a:p>
        </p:txBody>
      </p:sp>
      <p:sp>
        <p:nvSpPr>
          <p:cNvPr id="54" name="Shape 52"/>
          <p:cNvSpPr/>
          <p:nvPr/>
        </p:nvSpPr>
        <p:spPr>
          <a:xfrm>
            <a:off x="5153025" y="4037159"/>
            <a:ext cx="178118" cy="22777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54002" y="4059936"/>
            <a:ext cx="178118" cy="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0" y="4206240"/>
            <a:ext cx="208722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940242" y="4206240"/>
            <a:ext cx="208722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1148963" y="4206240"/>
            <a:ext cx="208722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1357685" y="4206240"/>
            <a:ext cx="208722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1566407" y="4168521"/>
            <a:ext cx="208722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1775129" y="4017645"/>
            <a:ext cx="208722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1983850" y="3602736"/>
            <a:ext cx="208722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2192572" y="3414141"/>
            <a:ext cx="208722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2401294" y="3263265"/>
            <a:ext cx="208722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2610016" y="2772918"/>
            <a:ext cx="208722" cy="264033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2818737" y="3036951"/>
            <a:ext cx="208722" cy="150876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3027459" y="3187827"/>
            <a:ext cx="208722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3236181" y="3112389"/>
            <a:ext cx="208722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3444903" y="2961513"/>
            <a:ext cx="208722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3653624" y="2697480"/>
            <a:ext cx="208722" cy="226314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3862346" y="2923794"/>
            <a:ext cx="208722" cy="301752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4071068" y="3225546"/>
            <a:ext cx="208722" cy="264033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4279790" y="3489579"/>
            <a:ext cx="208722" cy="188595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4488511" y="3678174"/>
            <a:ext cx="208722" cy="188595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4697233" y="3866769"/>
            <a:ext cx="208722" cy="150876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4905955" y="4017645"/>
            <a:ext cx="208722" cy="75438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5114677" y="4093083"/>
            <a:ext cx="208722" cy="75438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5323398" y="4168521"/>
            <a:ext cx="208722" cy="37719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708660" y="4183380"/>
            <a:ext cx="45720" cy="457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960990" y="3579876"/>
            <a:ext cx="45720" cy="457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13321" y="3089529"/>
            <a:ext cx="45720" cy="457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465651" y="3655314"/>
            <a:ext cx="45720" cy="457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77240" y="4672584"/>
            <a:ext cx="73152" cy="73152"/>
          </a:xfrm>
          <a:prstGeom prst="rect">
            <a:avLst/>
          </a:prstGeom>
          <a:solidFill>
            <a:srgbClr val="32D5FF"/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86968" y="464515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進場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1490472" y="4672584"/>
            <a:ext cx="73152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600200" y="464515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離場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2203704" y="4672584"/>
            <a:ext cx="73152" cy="73152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>
                <a:alpha val="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313432" y="464515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目前小時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5989320" y="2057400"/>
            <a:ext cx="5577840" cy="2926080"/>
          </a:xfrm>
          <a:prstGeom prst="roundRect">
            <a:avLst>
              <a:gd name="adj" fmla="val 15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63640" y="22860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最新人員辨識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263640" y="2615184"/>
            <a:ext cx="4892040" cy="530352"/>
          </a:xfrm>
          <a:prstGeom prst="roundRect">
            <a:avLst>
              <a:gd name="adj" fmla="val 6897"/>
            </a:avLst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pic>
        <p:nvPicPr>
          <p:cNvPr id="92" name="Image 0" descr="/mnt/data/a_realistic_front_facing_close_up_portrait_photo.png"/>
          <p:cNvPicPr>
            <a:picLocks noChangeAspect="1"/>
          </p:cNvPicPr>
          <p:nvPr/>
        </p:nvPicPr>
        <p:blipFill>
          <a:blip r:embed="rId3"/>
          <a:srcRect l="6395" r="6395"/>
          <a:stretch/>
        </p:blipFill>
        <p:spPr>
          <a:xfrm>
            <a:off x="6327648" y="2679192"/>
            <a:ext cx="457200" cy="393192"/>
          </a:xfrm>
          <a:prstGeom prst="rect">
            <a:avLst/>
          </a:prstGeom>
        </p:spPr>
      </p:pic>
      <p:sp>
        <p:nvSpPr>
          <p:cNvPr id="93" name="Text 90"/>
          <p:cNvSpPr/>
          <p:nvPr/>
        </p:nvSpPr>
        <p:spPr>
          <a:xfrm>
            <a:off x="6867144" y="2688336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10442448" y="2688336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14:31</a:t>
            </a:r>
            <a:endParaRPr lang="en-US" sz="650" dirty="0"/>
          </a:p>
        </p:txBody>
      </p:sp>
      <p:sp>
        <p:nvSpPr>
          <p:cNvPr id="95" name="Text 92"/>
          <p:cNvSpPr/>
          <p:nvPr/>
        </p:nvSpPr>
        <p:spPr>
          <a:xfrm>
            <a:off x="6867144" y="2843784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王O明 / E-1029</a:t>
            </a:r>
            <a:endParaRPr lang="en-US" sz="850" dirty="0"/>
          </a:p>
        </p:txBody>
      </p:sp>
      <p:sp>
        <p:nvSpPr>
          <p:cNvPr id="96" name="Text 93"/>
          <p:cNvSpPr/>
          <p:nvPr/>
        </p:nvSpPr>
        <p:spPr>
          <a:xfrm>
            <a:off x="6867144" y="2999232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正興機電 · 高空作業證有效 · A03 東門</a:t>
            </a:r>
            <a:endParaRPr lang="en-US" sz="620" dirty="0"/>
          </a:p>
        </p:txBody>
      </p:sp>
      <p:sp>
        <p:nvSpPr>
          <p:cNvPr id="97" name="Text 94"/>
          <p:cNvSpPr/>
          <p:nvPr/>
        </p:nvSpPr>
        <p:spPr>
          <a:xfrm>
            <a:off x="10424160" y="2889504"/>
            <a:ext cx="594360" cy="146304"/>
          </a:xfrm>
          <a:prstGeom prst="rect">
            <a:avLst/>
          </a:prstGeom>
          <a:solidFill>
            <a:srgbClr val="07111F"/>
          </a:solidFill>
          <a:ln>
            <a:solidFill>
              <a:srgbClr val="32D5FF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通行</a:t>
            </a:r>
            <a:endParaRPr lang="en-US" sz="580" dirty="0"/>
          </a:p>
        </p:txBody>
      </p:sp>
      <p:sp>
        <p:nvSpPr>
          <p:cNvPr id="98" name="Shape 95"/>
          <p:cNvSpPr/>
          <p:nvPr/>
        </p:nvSpPr>
        <p:spPr>
          <a:xfrm>
            <a:off x="6263640" y="3273552"/>
            <a:ext cx="4892040" cy="530352"/>
          </a:xfrm>
          <a:prstGeom prst="roundRect">
            <a:avLst>
              <a:gd name="adj" fmla="val 6897"/>
            </a:avLst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pic>
        <p:nvPicPr>
          <p:cNvPr id="99" name="Image 1" descr="/mnt/data/a_realistic_front_facing_close_up_portrait_photo.png"/>
          <p:cNvPicPr>
            <a:picLocks noChangeAspect="1"/>
          </p:cNvPicPr>
          <p:nvPr/>
        </p:nvPicPr>
        <p:blipFill>
          <a:blip r:embed="rId3"/>
          <a:srcRect l="6395" r="6395"/>
          <a:stretch/>
        </p:blipFill>
        <p:spPr>
          <a:xfrm>
            <a:off x="6327648" y="3337560"/>
            <a:ext cx="457200" cy="393192"/>
          </a:xfrm>
          <a:prstGeom prst="rect">
            <a:avLst/>
          </a:prstGeom>
        </p:spPr>
      </p:pic>
      <p:sp>
        <p:nvSpPr>
          <p:cNvPr id="100" name="Text 96"/>
          <p:cNvSpPr/>
          <p:nvPr/>
        </p:nvSpPr>
        <p:spPr>
          <a:xfrm>
            <a:off x="6867144" y="334670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出</a:t>
            </a:r>
            <a:endParaRPr lang="en-US" sz="700" dirty="0"/>
          </a:p>
        </p:txBody>
      </p:sp>
      <p:sp>
        <p:nvSpPr>
          <p:cNvPr id="101" name="Text 97"/>
          <p:cNvSpPr/>
          <p:nvPr/>
        </p:nvSpPr>
        <p:spPr>
          <a:xfrm>
            <a:off x="10442448" y="3346704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14:29</a:t>
            </a:r>
            <a:endParaRPr lang="en-US" sz="650" dirty="0"/>
          </a:p>
        </p:txBody>
      </p:sp>
      <p:sp>
        <p:nvSpPr>
          <p:cNvPr id="102" name="Text 98"/>
          <p:cNvSpPr/>
          <p:nvPr/>
        </p:nvSpPr>
        <p:spPr>
          <a:xfrm>
            <a:off x="6867144" y="3502152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陳O德 / E-0442</a:t>
            </a:r>
            <a:endParaRPr lang="en-US" sz="850" dirty="0"/>
          </a:p>
        </p:txBody>
      </p:sp>
      <p:sp>
        <p:nvSpPr>
          <p:cNvPr id="103" name="Text 99"/>
          <p:cNvSpPr/>
          <p:nvPr/>
        </p:nvSpPr>
        <p:spPr>
          <a:xfrm>
            <a:off x="6867144" y="3657600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宏達水電 · 一般工安證有效 · A03 東門</a:t>
            </a:r>
            <a:endParaRPr lang="en-US" sz="620" dirty="0"/>
          </a:p>
        </p:txBody>
      </p:sp>
      <p:sp>
        <p:nvSpPr>
          <p:cNvPr id="104" name="Text 100"/>
          <p:cNvSpPr/>
          <p:nvPr/>
        </p:nvSpPr>
        <p:spPr>
          <a:xfrm>
            <a:off x="10424160" y="3547872"/>
            <a:ext cx="594360" cy="146304"/>
          </a:xfrm>
          <a:prstGeom prst="rect">
            <a:avLst/>
          </a:prstGeom>
          <a:solidFill>
            <a:srgbClr val="07111F"/>
          </a:solidFill>
          <a:ln>
            <a:solidFill>
              <a:srgbClr val="A78BFA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離場</a:t>
            </a:r>
            <a:endParaRPr lang="en-US" sz="580" dirty="0"/>
          </a:p>
        </p:txBody>
      </p:sp>
      <p:sp>
        <p:nvSpPr>
          <p:cNvPr id="105" name="Shape 101"/>
          <p:cNvSpPr/>
          <p:nvPr/>
        </p:nvSpPr>
        <p:spPr>
          <a:xfrm>
            <a:off x="6263640" y="3931920"/>
            <a:ext cx="4892040" cy="530352"/>
          </a:xfrm>
          <a:prstGeom prst="roundRect">
            <a:avLst>
              <a:gd name="adj" fmla="val 6897"/>
            </a:avLst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pic>
        <p:nvPicPr>
          <p:cNvPr id="106" name="Image 2" descr="/mnt/data/a_realistic_front_facing_close_up_portrait_photo.png"/>
          <p:cNvPicPr>
            <a:picLocks noChangeAspect="1"/>
          </p:cNvPicPr>
          <p:nvPr/>
        </p:nvPicPr>
        <p:blipFill>
          <a:blip r:embed="rId3"/>
          <a:srcRect l="6395" r="6395"/>
          <a:stretch/>
        </p:blipFill>
        <p:spPr>
          <a:xfrm>
            <a:off x="6327648" y="3995928"/>
            <a:ext cx="457200" cy="393192"/>
          </a:xfrm>
          <a:prstGeom prst="rect">
            <a:avLst/>
          </a:prstGeom>
        </p:spPr>
      </p:pic>
      <p:sp>
        <p:nvSpPr>
          <p:cNvPr id="107" name="Text 102"/>
          <p:cNvSpPr/>
          <p:nvPr/>
        </p:nvSpPr>
        <p:spPr>
          <a:xfrm>
            <a:off x="6867144" y="40050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4D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</a:t>
            </a:r>
            <a:endParaRPr lang="en-US" sz="700" dirty="0"/>
          </a:p>
        </p:txBody>
      </p:sp>
      <p:sp>
        <p:nvSpPr>
          <p:cNvPr id="108" name="Text 103"/>
          <p:cNvSpPr/>
          <p:nvPr/>
        </p:nvSpPr>
        <p:spPr>
          <a:xfrm>
            <a:off x="10442448" y="4005072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14:28</a:t>
            </a:r>
            <a:endParaRPr lang="en-US" sz="650" dirty="0"/>
          </a:p>
        </p:txBody>
      </p:sp>
      <p:sp>
        <p:nvSpPr>
          <p:cNvPr id="109" name="Text 104"/>
          <p:cNvSpPr/>
          <p:nvPr/>
        </p:nvSpPr>
        <p:spPr>
          <a:xfrm>
            <a:off x="6867144" y="416052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李O華 / E-0981</a:t>
            </a:r>
            <a:endParaRPr lang="en-US" sz="850" dirty="0"/>
          </a:p>
        </p:txBody>
      </p:sp>
      <p:sp>
        <p:nvSpPr>
          <p:cNvPr id="110" name="Text 105"/>
          <p:cNvSpPr/>
          <p:nvPr/>
        </p:nvSpPr>
        <p:spPr>
          <a:xfrm>
            <a:off x="6867144" y="4315968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隆泰工程 · 電焊作業證過期 · 人工確認</a:t>
            </a:r>
            <a:endParaRPr lang="en-US" sz="620" dirty="0"/>
          </a:p>
        </p:txBody>
      </p:sp>
      <p:sp>
        <p:nvSpPr>
          <p:cNvPr id="111" name="Text 106"/>
          <p:cNvSpPr/>
          <p:nvPr/>
        </p:nvSpPr>
        <p:spPr>
          <a:xfrm>
            <a:off x="10424160" y="4206240"/>
            <a:ext cx="594360" cy="146304"/>
          </a:xfrm>
          <a:prstGeom prst="rect">
            <a:avLst/>
          </a:prstGeom>
          <a:solidFill>
            <a:srgbClr val="07111F"/>
          </a:solidFill>
          <a:ln>
            <a:solidFill>
              <a:srgbClr val="FF4D4F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4D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告警</a:t>
            </a:r>
            <a:endParaRPr lang="en-US" sz="580" dirty="0"/>
          </a:p>
        </p:txBody>
      </p:sp>
      <p:sp>
        <p:nvSpPr>
          <p:cNvPr id="112" name="Text 107"/>
          <p:cNvSpPr/>
          <p:nvPr/>
        </p:nvSpPr>
        <p:spPr>
          <a:xfrm>
            <a:off x="594360" y="537667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人員看板需顯示姓名、工號、承攬商、進出方向、辨識時間、證照有效狀態與人臉截圖。若證照過期，使用紅色告警並置頂。</a:t>
            </a:r>
            <a:endParaRPr lang="en-US" sz="950" dirty="0"/>
          </a:p>
        </p:txBody>
      </p:sp>
      <p:sp>
        <p:nvSpPr>
          <p:cNvPr id="113" name="Text 108"/>
          <p:cNvSpPr/>
          <p:nvPr/>
        </p:nvSpPr>
        <p:spPr>
          <a:xfrm>
            <a:off x="411480" y="655624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工地看板 UI 模板 · Standalone Display · 第 6 頁</a:t>
            </a:r>
            <a:endParaRPr lang="en-US" sz="600" dirty="0"/>
          </a:p>
        </p:txBody>
      </p:sp>
      <p:sp>
        <p:nvSpPr>
          <p:cNvPr id="114" name="Text 109"/>
          <p:cNvSpPr/>
          <p:nvPr/>
        </p:nvSpPr>
        <p:spPr>
          <a:xfrm>
            <a:off x="8321040" y="655624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資料刷新：API 即時推送優先；備援每 60 秒輪詢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車輛進出看板模板：車牌快訊 + 車輛截圖 + 24H 趨勢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對接車牌管理平台，顯示車牌號碼、承攬商、車型、名單狀態、進出方向、車輛截圖與車牌小圖。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941832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進場車次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12648" y="114300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12648" y="152704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今日 00:00 至目前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423160" y="86868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941832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離場車次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532888" y="114300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D1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38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532888" y="152704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今日 00:00 至目前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343400" y="86868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3128" y="941832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目前在場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453128" y="114300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453128" y="152704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依進出事件估算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263640" y="86868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941832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陌生車牌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373368" y="114300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D1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373368" y="152704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自動建立 UNKNOWN</a:t>
            </a:r>
            <a:endParaRPr lang="en-US" sz="700" dirty="0"/>
          </a:p>
        </p:txBody>
      </p:sp>
      <p:pic>
        <p:nvPicPr>
          <p:cNvPr id="21" name="Image 0" descr="/mnt/data/a_high_angle_surveillance_camera_style_outdoor_sce.png"/>
          <p:cNvPicPr>
            <a:picLocks noChangeAspect="1"/>
          </p:cNvPicPr>
          <p:nvPr/>
        </p:nvPicPr>
        <p:blipFill>
          <a:blip r:embed="rId3"/>
          <a:srcRect l="1760" r="1760"/>
          <a:stretch/>
        </p:blipFill>
        <p:spPr>
          <a:xfrm>
            <a:off x="502920" y="2057400"/>
            <a:ext cx="4937760" cy="288036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02920" y="2057400"/>
            <a:ext cx="4937760" cy="288036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2331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最新車輛截圖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7724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ABC-5288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777240" y="45262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大榮土木 · 砂石車 · 白名單 · 進場 · 14:32:18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15000" y="2057400"/>
            <a:ext cx="5852160" cy="1325880"/>
          </a:xfrm>
          <a:prstGeom prst="roundRect">
            <a:avLst>
              <a:gd name="adj" fmla="val 3448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89320" y="226771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最新車輛事件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989320" y="2578608"/>
            <a:ext cx="5074920" cy="530352"/>
          </a:xfrm>
          <a:prstGeom prst="roundRect">
            <a:avLst>
              <a:gd name="adj" fmla="val 6897"/>
            </a:avLst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pic>
        <p:nvPicPr>
          <p:cNvPr id="29" name="Image 1" descr="/mnt/data/a_high_angle_surveillance_camera_style_outdoor_sce.png"/>
          <p:cNvPicPr>
            <a:picLocks noChangeAspect="1"/>
          </p:cNvPicPr>
          <p:nvPr/>
        </p:nvPicPr>
        <p:blipFill>
          <a:blip r:embed="rId3"/>
          <a:srcRect l="17279" r="17279"/>
          <a:stretch/>
        </p:blipFill>
        <p:spPr>
          <a:xfrm>
            <a:off x="6053328" y="2642616"/>
            <a:ext cx="457200" cy="39319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592824" y="265176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10351008" y="2651760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14:32</a:t>
            </a:r>
            <a:endParaRPr lang="en-US" sz="650" dirty="0"/>
          </a:p>
        </p:txBody>
      </p:sp>
      <p:sp>
        <p:nvSpPr>
          <p:cNvPr id="32" name="Text 28"/>
          <p:cNvSpPr/>
          <p:nvPr/>
        </p:nvSpPr>
        <p:spPr>
          <a:xfrm>
            <a:off x="6592824" y="280720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ABC-5288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6592824" y="2962656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大榮土木 · 砂石車 · 閘門已開啟</a:t>
            </a:r>
            <a:endParaRPr lang="en-US" sz="620" dirty="0"/>
          </a:p>
        </p:txBody>
      </p:sp>
      <p:sp>
        <p:nvSpPr>
          <p:cNvPr id="34" name="Text 30"/>
          <p:cNvSpPr/>
          <p:nvPr/>
        </p:nvSpPr>
        <p:spPr>
          <a:xfrm>
            <a:off x="10332720" y="2852928"/>
            <a:ext cx="594360" cy="146304"/>
          </a:xfrm>
          <a:prstGeom prst="rect">
            <a:avLst/>
          </a:prstGeom>
          <a:solidFill>
            <a:srgbClr val="07111F"/>
          </a:solidFill>
          <a:ln>
            <a:solidFill>
              <a:srgbClr val="2ED573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白名單</a:t>
            </a:r>
            <a:endParaRPr lang="en-US" sz="580" dirty="0"/>
          </a:p>
        </p:txBody>
      </p:sp>
      <p:sp>
        <p:nvSpPr>
          <p:cNvPr id="35" name="Shape 31"/>
          <p:cNvSpPr/>
          <p:nvPr/>
        </p:nvSpPr>
        <p:spPr>
          <a:xfrm>
            <a:off x="5715000" y="3611880"/>
            <a:ext cx="5852160" cy="1325880"/>
          </a:xfrm>
          <a:prstGeom prst="roundRect">
            <a:avLst>
              <a:gd name="adj" fmla="val 3448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89320" y="3822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每小時車輛進出趨勢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5989320" y="4178808"/>
            <a:ext cx="5257800" cy="502920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989320" y="4535424"/>
            <a:ext cx="197167" cy="0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971032" y="4572000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00</a:t>
            </a:r>
            <a:endParaRPr lang="en-US" sz="480" dirty="0"/>
          </a:p>
        </p:txBody>
      </p:sp>
      <p:sp>
        <p:nvSpPr>
          <p:cNvPr id="40" name="Shape 36"/>
          <p:cNvSpPr/>
          <p:nvPr/>
        </p:nvSpPr>
        <p:spPr>
          <a:xfrm>
            <a:off x="6209347" y="4535424"/>
            <a:ext cx="197167" cy="0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429375" y="4535424"/>
            <a:ext cx="197167" cy="0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649403" y="4535424"/>
            <a:ext cx="197167" cy="0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631115" y="4572000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480" dirty="0"/>
          </a:p>
        </p:txBody>
      </p:sp>
      <p:sp>
        <p:nvSpPr>
          <p:cNvPr id="44" name="Shape 40"/>
          <p:cNvSpPr/>
          <p:nvPr/>
        </p:nvSpPr>
        <p:spPr>
          <a:xfrm>
            <a:off x="6869430" y="4512980"/>
            <a:ext cx="197167" cy="22444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089458" y="4490535"/>
            <a:ext cx="197167" cy="44889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7309485" y="4445647"/>
            <a:ext cx="197167" cy="89777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7291197" y="4572000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480" dirty="0"/>
          </a:p>
        </p:txBody>
      </p:sp>
      <p:sp>
        <p:nvSpPr>
          <p:cNvPr id="48" name="Shape 44"/>
          <p:cNvSpPr/>
          <p:nvPr/>
        </p:nvSpPr>
        <p:spPr>
          <a:xfrm>
            <a:off x="7529513" y="4400758"/>
            <a:ext cx="197167" cy="134666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749540" y="4355869"/>
            <a:ext cx="197167" cy="179555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7969567" y="4288536"/>
            <a:ext cx="197167" cy="246888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7951280" y="4572000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480" dirty="0"/>
          </a:p>
        </p:txBody>
      </p:sp>
      <p:sp>
        <p:nvSpPr>
          <p:cNvPr id="52" name="Shape 48"/>
          <p:cNvSpPr/>
          <p:nvPr/>
        </p:nvSpPr>
        <p:spPr>
          <a:xfrm>
            <a:off x="8189595" y="4333425"/>
            <a:ext cx="197167" cy="201999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8409622" y="4378313"/>
            <a:ext cx="197167" cy="157111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8629650" y="4400758"/>
            <a:ext cx="197167" cy="134666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8611362" y="4572000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480" dirty="0"/>
          </a:p>
        </p:txBody>
      </p:sp>
      <p:sp>
        <p:nvSpPr>
          <p:cNvPr id="56" name="Shape 52"/>
          <p:cNvSpPr/>
          <p:nvPr/>
        </p:nvSpPr>
        <p:spPr>
          <a:xfrm>
            <a:off x="8849678" y="4355869"/>
            <a:ext cx="197167" cy="179555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9069705" y="4310980"/>
            <a:ext cx="197167" cy="224444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9289732" y="4378313"/>
            <a:ext cx="197167" cy="157111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9271445" y="4572000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480" dirty="0"/>
          </a:p>
        </p:txBody>
      </p:sp>
      <p:sp>
        <p:nvSpPr>
          <p:cNvPr id="60" name="Shape 56"/>
          <p:cNvSpPr/>
          <p:nvPr/>
        </p:nvSpPr>
        <p:spPr>
          <a:xfrm>
            <a:off x="9509760" y="4423202"/>
            <a:ext cx="197167" cy="112222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9729788" y="4445647"/>
            <a:ext cx="197167" cy="89777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9949815" y="4468091"/>
            <a:ext cx="197167" cy="67333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9931527" y="4572000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480" dirty="0"/>
          </a:p>
        </p:txBody>
      </p:sp>
      <p:sp>
        <p:nvSpPr>
          <p:cNvPr id="64" name="Shape 60"/>
          <p:cNvSpPr/>
          <p:nvPr/>
        </p:nvSpPr>
        <p:spPr>
          <a:xfrm>
            <a:off x="10169843" y="4490535"/>
            <a:ext cx="197167" cy="44889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10389870" y="4512980"/>
            <a:ext cx="197167" cy="22444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10609897" y="4512980"/>
            <a:ext cx="197167" cy="22444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10591610" y="4572000"/>
            <a:ext cx="233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480" dirty="0"/>
          </a:p>
        </p:txBody>
      </p:sp>
      <p:sp>
        <p:nvSpPr>
          <p:cNvPr id="68" name="Shape 64"/>
          <p:cNvSpPr/>
          <p:nvPr/>
        </p:nvSpPr>
        <p:spPr>
          <a:xfrm>
            <a:off x="10829925" y="4535424"/>
            <a:ext cx="197167" cy="0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11049953" y="4535424"/>
            <a:ext cx="197167" cy="0"/>
          </a:xfrm>
          <a:prstGeom prst="rect">
            <a:avLst/>
          </a:prstGeom>
          <a:solidFill>
            <a:srgbClr val="FFB020">
              <a:alpha val="93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5989320" y="4681728"/>
            <a:ext cx="22860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71" name="Shape 67"/>
          <p:cNvSpPr/>
          <p:nvPr/>
        </p:nvSpPr>
        <p:spPr>
          <a:xfrm>
            <a:off x="6217920" y="4681728"/>
            <a:ext cx="22860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72" name="Shape 68"/>
          <p:cNvSpPr/>
          <p:nvPr/>
        </p:nvSpPr>
        <p:spPr>
          <a:xfrm>
            <a:off x="6446520" y="4681728"/>
            <a:ext cx="22860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73" name="Shape 69"/>
          <p:cNvSpPr/>
          <p:nvPr/>
        </p:nvSpPr>
        <p:spPr>
          <a:xfrm>
            <a:off x="6675120" y="4681728"/>
            <a:ext cx="22860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74" name="Shape 70"/>
          <p:cNvSpPr/>
          <p:nvPr/>
        </p:nvSpPr>
        <p:spPr>
          <a:xfrm>
            <a:off x="6903720" y="4681728"/>
            <a:ext cx="22860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75" name="Shape 71"/>
          <p:cNvSpPr/>
          <p:nvPr/>
        </p:nvSpPr>
        <p:spPr>
          <a:xfrm>
            <a:off x="7132320" y="4609882"/>
            <a:ext cx="22860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76" name="Shape 72"/>
          <p:cNvSpPr/>
          <p:nvPr/>
        </p:nvSpPr>
        <p:spPr>
          <a:xfrm>
            <a:off x="7360920" y="4538037"/>
            <a:ext cx="22860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77" name="Shape 73"/>
          <p:cNvSpPr/>
          <p:nvPr/>
        </p:nvSpPr>
        <p:spPr>
          <a:xfrm>
            <a:off x="7589520" y="4394345"/>
            <a:ext cx="22860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78" name="Shape 74"/>
          <p:cNvSpPr/>
          <p:nvPr/>
        </p:nvSpPr>
        <p:spPr>
          <a:xfrm>
            <a:off x="7818120" y="4322499"/>
            <a:ext cx="22860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79" name="Shape 75"/>
          <p:cNvSpPr/>
          <p:nvPr/>
        </p:nvSpPr>
        <p:spPr>
          <a:xfrm>
            <a:off x="8046720" y="4178808"/>
            <a:ext cx="228600" cy="71846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80" name="Shape 76"/>
          <p:cNvSpPr/>
          <p:nvPr/>
        </p:nvSpPr>
        <p:spPr>
          <a:xfrm>
            <a:off x="8275320" y="4250654"/>
            <a:ext cx="228600" cy="71846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81" name="Shape 77"/>
          <p:cNvSpPr/>
          <p:nvPr/>
        </p:nvSpPr>
        <p:spPr>
          <a:xfrm>
            <a:off x="8503920" y="4322499"/>
            <a:ext cx="22860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82" name="Shape 78"/>
          <p:cNvSpPr/>
          <p:nvPr/>
        </p:nvSpPr>
        <p:spPr>
          <a:xfrm>
            <a:off x="8732520" y="4322499"/>
            <a:ext cx="22860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83" name="Shape 79"/>
          <p:cNvSpPr/>
          <p:nvPr/>
        </p:nvSpPr>
        <p:spPr>
          <a:xfrm>
            <a:off x="8961120" y="4250654"/>
            <a:ext cx="22860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84" name="Shape 80"/>
          <p:cNvSpPr/>
          <p:nvPr/>
        </p:nvSpPr>
        <p:spPr>
          <a:xfrm>
            <a:off x="9189720" y="4178808"/>
            <a:ext cx="228600" cy="71846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85" name="Shape 81"/>
          <p:cNvSpPr/>
          <p:nvPr/>
        </p:nvSpPr>
        <p:spPr>
          <a:xfrm>
            <a:off x="9418320" y="4250654"/>
            <a:ext cx="228600" cy="143691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86" name="Shape 82"/>
          <p:cNvSpPr/>
          <p:nvPr/>
        </p:nvSpPr>
        <p:spPr>
          <a:xfrm>
            <a:off x="9646920" y="4394345"/>
            <a:ext cx="228600" cy="71846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87" name="Shape 83"/>
          <p:cNvSpPr/>
          <p:nvPr/>
        </p:nvSpPr>
        <p:spPr>
          <a:xfrm>
            <a:off x="9875520" y="4466191"/>
            <a:ext cx="228600" cy="71846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88" name="Shape 84"/>
          <p:cNvSpPr/>
          <p:nvPr/>
        </p:nvSpPr>
        <p:spPr>
          <a:xfrm>
            <a:off x="10104120" y="4538037"/>
            <a:ext cx="228600" cy="71846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89" name="Shape 85"/>
          <p:cNvSpPr/>
          <p:nvPr/>
        </p:nvSpPr>
        <p:spPr>
          <a:xfrm>
            <a:off x="10332720" y="4609882"/>
            <a:ext cx="22860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90" name="Shape 86"/>
          <p:cNvSpPr/>
          <p:nvPr/>
        </p:nvSpPr>
        <p:spPr>
          <a:xfrm>
            <a:off x="10561320" y="4609882"/>
            <a:ext cx="228600" cy="71846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91" name="Shape 87"/>
          <p:cNvSpPr/>
          <p:nvPr/>
        </p:nvSpPr>
        <p:spPr>
          <a:xfrm>
            <a:off x="10789920" y="4681728"/>
            <a:ext cx="22860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92" name="Shape 88"/>
          <p:cNvSpPr/>
          <p:nvPr/>
        </p:nvSpPr>
        <p:spPr>
          <a:xfrm>
            <a:off x="11018520" y="4681728"/>
            <a:ext cx="22860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none"/>
          </a:ln>
        </p:spPr>
      </p:sp>
      <p:sp>
        <p:nvSpPr>
          <p:cNvPr id="93" name="Shape 89"/>
          <p:cNvSpPr/>
          <p:nvPr/>
        </p:nvSpPr>
        <p:spPr>
          <a:xfrm>
            <a:off x="5966460" y="4658868"/>
            <a:ext cx="45720" cy="457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7338060" y="4515177"/>
            <a:ext cx="45720" cy="457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8709660" y="4299639"/>
            <a:ext cx="45720" cy="457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10081260" y="4515177"/>
            <a:ext cx="45720" cy="457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7" name="Text 93"/>
          <p:cNvSpPr/>
          <p:nvPr/>
        </p:nvSpPr>
        <p:spPr>
          <a:xfrm>
            <a:off x="594360" y="537667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陌生車牌自動以 UNKNOWN-流水號建檔，只在看板提示，不在看板端開放編輯。後續確認仍回管理平台處理。</a:t>
            </a:r>
            <a:endParaRPr lang="en-US" sz="950" dirty="0"/>
          </a:p>
        </p:txBody>
      </p:sp>
      <p:sp>
        <p:nvSpPr>
          <p:cNvPr id="98" name="Text 94"/>
          <p:cNvSpPr/>
          <p:nvPr/>
        </p:nvSpPr>
        <p:spPr>
          <a:xfrm>
            <a:off x="411480" y="655624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工地看板 UI 模板 · Standalone Display · 第 7 頁</a:t>
            </a:r>
            <a:endParaRPr lang="en-US" sz="600" dirty="0"/>
          </a:p>
        </p:txBody>
      </p:sp>
      <p:sp>
        <p:nvSpPr>
          <p:cNvPr id="99" name="Text 95"/>
          <p:cNvSpPr/>
          <p:nvPr/>
        </p:nvSpPr>
        <p:spPr>
          <a:xfrm>
            <a:off x="8321040" y="655624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資料刷新：API 即時推送優先；備援每 60 秒輪詢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趨勢圖模板：今日每小時人車進出統計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趨勢圖以 0-24 小時為 X 軸。看板每分鐘刷新，圖上標示目前小時，讓現場快速判斷尖峰時段。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11018520" cy="4480560"/>
          </a:xfrm>
          <a:prstGeom prst="roundRect">
            <a:avLst>
              <a:gd name="adj" fmla="val 1020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A03 機電棟工區 · 今日 0-24H 人車進出趨勢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0" y="1325880"/>
            <a:ext cx="73152" cy="73152"/>
          </a:xfrm>
          <a:prstGeom prst="rect">
            <a:avLst/>
          </a:prstGeom>
          <a:solidFill>
            <a:srgbClr val="32D5FF"/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82128" y="12984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人員進場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8485632" y="1325880"/>
            <a:ext cx="73152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12984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人員離場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98864" y="1325880"/>
            <a:ext cx="73152" cy="73152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08592" y="12984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車輛進場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9912096" y="1325880"/>
            <a:ext cx="73152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21824" y="12984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車輛離場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868680" y="1874520"/>
            <a:ext cx="10287000" cy="2606040"/>
          </a:xfrm>
          <a:prstGeom prst="rect">
            <a:avLst/>
          </a:prstGeom>
          <a:solidFill>
            <a:srgbClr val="112338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334256"/>
            <a:ext cx="406718" cy="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370832"/>
            <a:ext cx="443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00</a:t>
            </a:r>
            <a:endParaRPr lang="en-US" sz="480" dirty="0"/>
          </a:p>
        </p:txBody>
      </p:sp>
      <p:sp>
        <p:nvSpPr>
          <p:cNvPr id="18" name="Shape 16"/>
          <p:cNvSpPr/>
          <p:nvPr/>
        </p:nvSpPr>
        <p:spPr>
          <a:xfrm>
            <a:off x="1298258" y="4334256"/>
            <a:ext cx="406718" cy="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27835" y="4334256"/>
            <a:ext cx="406718" cy="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57413" y="4334256"/>
            <a:ext cx="406718" cy="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9125" y="4370832"/>
            <a:ext cx="443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480" dirty="0"/>
          </a:p>
        </p:txBody>
      </p:sp>
      <p:sp>
        <p:nvSpPr>
          <p:cNvPr id="22" name="Shape 20"/>
          <p:cNvSpPr/>
          <p:nvPr/>
        </p:nvSpPr>
        <p:spPr>
          <a:xfrm>
            <a:off x="2586990" y="4248801"/>
            <a:ext cx="406718" cy="85455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6568" y="3821527"/>
            <a:ext cx="406718" cy="512729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46145" y="3137888"/>
            <a:ext cx="406718" cy="1196368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7857" y="4370832"/>
            <a:ext cx="443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480" dirty="0"/>
          </a:p>
        </p:txBody>
      </p:sp>
      <p:sp>
        <p:nvSpPr>
          <p:cNvPr id="26" name="Shape 24"/>
          <p:cNvSpPr/>
          <p:nvPr/>
        </p:nvSpPr>
        <p:spPr>
          <a:xfrm>
            <a:off x="3875723" y="2539704"/>
            <a:ext cx="406718" cy="1794552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05300" y="2796069"/>
            <a:ext cx="406718" cy="1538187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4878" y="1984248"/>
            <a:ext cx="406718" cy="2350008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6590" y="4370832"/>
            <a:ext cx="443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480" dirty="0"/>
          </a:p>
        </p:txBody>
      </p:sp>
      <p:sp>
        <p:nvSpPr>
          <p:cNvPr id="30" name="Shape 28"/>
          <p:cNvSpPr/>
          <p:nvPr/>
        </p:nvSpPr>
        <p:spPr>
          <a:xfrm>
            <a:off x="5164455" y="2283340"/>
            <a:ext cx="406718" cy="2050916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94033" y="2924251"/>
            <a:ext cx="406718" cy="1410005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23610" y="2625159"/>
            <a:ext cx="406718" cy="1709097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05322" y="4370832"/>
            <a:ext cx="443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480" dirty="0"/>
          </a:p>
        </p:txBody>
      </p:sp>
      <p:sp>
        <p:nvSpPr>
          <p:cNvPr id="34" name="Shape 32"/>
          <p:cNvSpPr/>
          <p:nvPr/>
        </p:nvSpPr>
        <p:spPr>
          <a:xfrm>
            <a:off x="6453188" y="2112430"/>
            <a:ext cx="406718" cy="2221826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82765" y="2368795"/>
            <a:ext cx="406718" cy="1965461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2343" y="3052433"/>
            <a:ext cx="406718" cy="1281823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94055" y="4370832"/>
            <a:ext cx="443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480" dirty="0"/>
          </a:p>
        </p:txBody>
      </p:sp>
      <p:sp>
        <p:nvSpPr>
          <p:cNvPr id="38" name="Shape 36"/>
          <p:cNvSpPr/>
          <p:nvPr/>
        </p:nvSpPr>
        <p:spPr>
          <a:xfrm>
            <a:off x="7741920" y="3308798"/>
            <a:ext cx="406718" cy="1025458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71498" y="3565162"/>
            <a:ext cx="406718" cy="769094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01075" y="3821527"/>
            <a:ext cx="406718" cy="512729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82787" y="4370832"/>
            <a:ext cx="443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480" dirty="0"/>
          </a:p>
        </p:txBody>
      </p:sp>
      <p:sp>
        <p:nvSpPr>
          <p:cNvPr id="42" name="Shape 40"/>
          <p:cNvSpPr/>
          <p:nvPr/>
        </p:nvSpPr>
        <p:spPr>
          <a:xfrm>
            <a:off x="9030653" y="3992437"/>
            <a:ext cx="406718" cy="341819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60230" y="4163346"/>
            <a:ext cx="406718" cy="17091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89808" y="4248801"/>
            <a:ext cx="406718" cy="85455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71520" y="4370832"/>
            <a:ext cx="443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480" dirty="0"/>
          </a:p>
        </p:txBody>
      </p:sp>
      <p:sp>
        <p:nvSpPr>
          <p:cNvPr id="46" name="Shape 44"/>
          <p:cNvSpPr/>
          <p:nvPr/>
        </p:nvSpPr>
        <p:spPr>
          <a:xfrm>
            <a:off x="10319385" y="4291529"/>
            <a:ext cx="406718" cy="42727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748963" y="4334256"/>
            <a:ext cx="406718" cy="0"/>
          </a:xfrm>
          <a:prstGeom prst="rect">
            <a:avLst/>
          </a:prstGeom>
          <a:solidFill>
            <a:srgbClr val="32D5FF">
              <a:alpha val="93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8680" y="4480560"/>
            <a:ext cx="447261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1315941" y="4480560"/>
            <a:ext cx="447261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1763202" y="4480560"/>
            <a:ext cx="447261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2210463" y="4480560"/>
            <a:ext cx="447261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2657723" y="4415409"/>
            <a:ext cx="447261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3104984" y="4154805"/>
            <a:ext cx="447261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3552245" y="3438144"/>
            <a:ext cx="447261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3999506" y="3112389"/>
            <a:ext cx="447261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4446767" y="2851785"/>
            <a:ext cx="447261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4894028" y="2004822"/>
            <a:ext cx="447261" cy="456057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5341289" y="2460879"/>
            <a:ext cx="447261" cy="260604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5788550" y="2721483"/>
            <a:ext cx="447261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6235810" y="2591181"/>
            <a:ext cx="447261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6683071" y="2330577"/>
            <a:ext cx="447261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7130332" y="1874520"/>
            <a:ext cx="447261" cy="390906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7577593" y="2265426"/>
            <a:ext cx="447261" cy="521208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8024854" y="2786634"/>
            <a:ext cx="447261" cy="456057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8472115" y="3242691"/>
            <a:ext cx="447261" cy="325755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8919376" y="3568446"/>
            <a:ext cx="447261" cy="325755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9366637" y="3894201"/>
            <a:ext cx="447261" cy="260604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9813897" y="4154805"/>
            <a:ext cx="447261" cy="130302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10261158" y="4285107"/>
            <a:ext cx="447261" cy="130302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10708419" y="4415409"/>
            <a:ext cx="447261" cy="65151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845820" y="4457700"/>
            <a:ext cx="45720" cy="457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529385" y="3415284"/>
            <a:ext cx="45720" cy="457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2950" y="2568321"/>
            <a:ext cx="45720" cy="457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896516" y="3545586"/>
            <a:ext cx="45720" cy="457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68680" y="4480560"/>
            <a:ext cx="447261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1315941" y="4480560"/>
            <a:ext cx="447261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1763202" y="4480560"/>
            <a:ext cx="447261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2210463" y="4480560"/>
            <a:ext cx="447261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2657723" y="4480560"/>
            <a:ext cx="447261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3104984" y="4108269"/>
            <a:ext cx="447261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3552245" y="3735977"/>
            <a:ext cx="447261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3999506" y="2991394"/>
            <a:ext cx="447261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4446767" y="2619103"/>
            <a:ext cx="447261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4894028" y="1874520"/>
            <a:ext cx="447261" cy="372291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5341289" y="2246811"/>
            <a:ext cx="447261" cy="372291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5788550" y="2619103"/>
            <a:ext cx="447261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6235810" y="2619103"/>
            <a:ext cx="447261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6683071" y="2246811"/>
            <a:ext cx="447261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7130332" y="1874520"/>
            <a:ext cx="447261" cy="372291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7577593" y="2246811"/>
            <a:ext cx="447261" cy="744583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8024854" y="2991394"/>
            <a:ext cx="447261" cy="372291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8472115" y="3363686"/>
            <a:ext cx="447261" cy="372291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93" name="Shape 91"/>
          <p:cNvSpPr/>
          <p:nvPr/>
        </p:nvSpPr>
        <p:spPr>
          <a:xfrm>
            <a:off x="8919376" y="3735977"/>
            <a:ext cx="447261" cy="372291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94" name="Shape 92"/>
          <p:cNvSpPr/>
          <p:nvPr/>
        </p:nvSpPr>
        <p:spPr>
          <a:xfrm>
            <a:off x="9366637" y="4108269"/>
            <a:ext cx="447261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95" name="Shape 93"/>
          <p:cNvSpPr/>
          <p:nvPr/>
        </p:nvSpPr>
        <p:spPr>
          <a:xfrm>
            <a:off x="9813897" y="4108269"/>
            <a:ext cx="447261" cy="372291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96" name="Shape 94"/>
          <p:cNvSpPr/>
          <p:nvPr/>
        </p:nvSpPr>
        <p:spPr>
          <a:xfrm>
            <a:off x="10261158" y="4480560"/>
            <a:ext cx="447261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97" name="Shape 95"/>
          <p:cNvSpPr/>
          <p:nvPr/>
        </p:nvSpPr>
        <p:spPr>
          <a:xfrm>
            <a:off x="10708419" y="4480560"/>
            <a:ext cx="447261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845820" y="4457700"/>
            <a:ext cx="45720" cy="457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29385" y="3713117"/>
            <a:ext cx="45720" cy="457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212950" y="2596243"/>
            <a:ext cx="45720" cy="457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896516" y="3713117"/>
            <a:ext cx="45720" cy="457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242048" y="1874520"/>
            <a:ext cx="54864" cy="2606040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>
                <a:alpha val="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812280" y="1572768"/>
            <a:ext cx="914400" cy="219456"/>
          </a:xfrm>
          <a:prstGeom prst="rect">
            <a:avLst/>
          </a:prstGeom>
          <a:solidFill>
            <a:srgbClr val="07111F"/>
          </a:solidFill>
          <a:ln>
            <a:solidFill>
              <a:srgbClr val="2ED573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 14 時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868680" y="4800600"/>
            <a:ext cx="10241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設計備註：人員與車輛可分開顯示，也可同圖疊加。50 吋畫面建議保留至少 2.6 吋高，避免數字與折線太小。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411480" y="655624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工地看板 UI 模板 · Standalone Display · 第 8 頁</a:t>
            </a:r>
            <a:endParaRPr lang="en-US" sz="600" dirty="0"/>
          </a:p>
        </p:txBody>
      </p:sp>
      <p:sp>
        <p:nvSpPr>
          <p:cNvPr id="106" name="Text 104"/>
          <p:cNvSpPr/>
          <p:nvPr/>
        </p:nvSpPr>
        <p:spPr>
          <a:xfrm>
            <a:off x="8321040" y="655624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資料刷新：API 即時推送優先；備援每 60 秒輪詢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Standalone 程式控制區：工地切換、刷新狀態、輪播設定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現場看板不做管理，只提供必要的顯示切換與狀態確認。控制列可在 5 秒後自動收合。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10835640" cy="685800"/>
          </a:xfrm>
          <a:prstGeom prst="roundRect">
            <a:avLst>
              <a:gd name="adj" fmla="val 6667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16152"/>
            <a:ext cx="1280160" cy="256032"/>
          </a:xfrm>
          <a:prstGeom prst="rect">
            <a:avLst/>
          </a:prstGeom>
          <a:solidFill>
            <a:srgbClr val="07111F"/>
          </a:solidFill>
          <a:ln>
            <a:solidFill>
              <a:srgbClr val="32D5FF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全部工地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331720" y="1216152"/>
            <a:ext cx="1325880" cy="256032"/>
          </a:xfrm>
          <a:prstGeom prst="rect">
            <a:avLst/>
          </a:prstGeom>
          <a:solidFill>
            <a:srgbClr val="07111F"/>
          </a:solidFill>
          <a:ln>
            <a:solidFill>
              <a:srgbClr val="2ED573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A03 機電棟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794760" y="1216152"/>
            <a:ext cx="1234440" cy="256032"/>
          </a:xfrm>
          <a:prstGeom prst="rect">
            <a:avLst/>
          </a:prstGeom>
          <a:solidFill>
            <a:srgbClr val="07111F"/>
          </a:solidFill>
          <a:ln>
            <a:solidFill>
              <a:srgbClr val="FFB020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車輛看板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166360" y="1216152"/>
            <a:ext cx="1234440" cy="256032"/>
          </a:xfrm>
          <a:prstGeom prst="rect">
            <a:avLst/>
          </a:prstGeom>
          <a:solidFill>
            <a:srgbClr val="07111F"/>
          </a:solidFill>
          <a:ln>
            <a:solidFill>
              <a:srgbClr val="A78BFA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人員看板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37960" y="1216152"/>
            <a:ext cx="1234440" cy="256032"/>
          </a:xfrm>
          <a:prstGeom prst="rect">
            <a:avLst/>
          </a:prstGeom>
          <a:solidFill>
            <a:srgbClr val="07111F"/>
          </a:solidFill>
          <a:ln>
            <a:solidFill>
              <a:srgbClr val="FFD166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D1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自動輪播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909560" y="1216152"/>
            <a:ext cx="1371600" cy="256032"/>
          </a:xfrm>
          <a:prstGeom prst="rect">
            <a:avLst/>
          </a:prstGeom>
          <a:solidFill>
            <a:srgbClr val="07111F"/>
          </a:solidFill>
          <a:ln>
            <a:solidFill>
              <a:srgbClr val="2ED573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刷新倒數 00:42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418320" y="1216152"/>
            <a:ext cx="1508760" cy="256032"/>
          </a:xfrm>
          <a:prstGeom prst="rect">
            <a:avLst/>
          </a:prstGeom>
          <a:solidFill>
            <a:srgbClr val="07111F"/>
          </a:solidFill>
          <a:ln>
            <a:solidFill>
              <a:srgbClr val="2ED573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正常 2/2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2057400"/>
            <a:ext cx="3200400" cy="3108960"/>
          </a:xfrm>
          <a:prstGeom prst="roundRect">
            <a:avLst>
              <a:gd name="adj" fmla="val 1471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3317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工地選擇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697480"/>
            <a:ext cx="2194560" cy="228600"/>
          </a:xfrm>
          <a:prstGeom prst="rect">
            <a:avLst/>
          </a:prstGeom>
          <a:solidFill>
            <a:srgbClr val="112338"/>
          </a:solidFill>
          <a:ln>
            <a:solidFill>
              <a:srgbClr val="9EB2CC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全部工地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14400" y="3044952"/>
            <a:ext cx="2194560" cy="228600"/>
          </a:xfrm>
          <a:prstGeom prst="rect">
            <a:avLst/>
          </a:prstGeom>
          <a:solidFill>
            <a:srgbClr val="112338"/>
          </a:solidFill>
          <a:ln>
            <a:solidFill>
              <a:srgbClr val="9EB2CC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A01 北側基地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14400" y="3392424"/>
            <a:ext cx="2194560" cy="228600"/>
          </a:xfrm>
          <a:prstGeom prst="rect">
            <a:avLst/>
          </a:prstGeom>
          <a:solidFill>
            <a:srgbClr val="112338"/>
          </a:solidFill>
          <a:ln>
            <a:solidFill>
              <a:srgbClr val="9EB2CC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A02 東門工區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4400" y="3739896"/>
            <a:ext cx="2194560" cy="228600"/>
          </a:xfrm>
          <a:prstGeom prst="rect">
            <a:avLst/>
          </a:prstGeom>
          <a:solidFill>
            <a:srgbClr val="07111F"/>
          </a:solidFill>
          <a:ln>
            <a:solidFill>
              <a:srgbClr val="2ED573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D5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A03 機電棟工區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14400" y="4087368"/>
            <a:ext cx="2194560" cy="228600"/>
          </a:xfrm>
          <a:prstGeom prst="rect">
            <a:avLst/>
          </a:prstGeom>
          <a:solidFill>
            <a:srgbClr val="112338"/>
          </a:solidFill>
          <a:ln>
            <a:solidFill>
              <a:srgbClr val="9EB2CC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B01 高塔區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14400" y="4434840"/>
            <a:ext cx="2194560" cy="228600"/>
          </a:xfrm>
          <a:prstGeom prst="rect">
            <a:avLst/>
          </a:prstGeom>
          <a:solidFill>
            <a:srgbClr val="112338"/>
          </a:solidFill>
          <a:ln>
            <a:solidFill>
              <a:srgbClr val="9EB2CC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C04 試運轉區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251960" y="2057400"/>
            <a:ext cx="3200400" cy="3108960"/>
          </a:xfrm>
          <a:prstGeom prst="roundRect">
            <a:avLst>
              <a:gd name="adj" fmla="val 1471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3317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看板模式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80560" y="2697480"/>
            <a:ext cx="2194560" cy="228600"/>
          </a:xfrm>
          <a:prstGeom prst="rect">
            <a:avLst/>
          </a:prstGeom>
          <a:solidFill>
            <a:srgbClr val="112338"/>
          </a:solidFill>
          <a:ln>
            <a:solidFill>
              <a:srgbClr val="9EB2CC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總體看板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480560" y="3044952"/>
            <a:ext cx="2194560" cy="228600"/>
          </a:xfrm>
          <a:prstGeom prst="rect">
            <a:avLst/>
          </a:prstGeom>
          <a:solidFill>
            <a:srgbClr val="07111F"/>
          </a:solidFill>
          <a:ln>
            <a:solidFill>
              <a:srgbClr val="32D5FF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2D5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單工地看板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480560" y="3392424"/>
            <a:ext cx="2194560" cy="228600"/>
          </a:xfrm>
          <a:prstGeom prst="rect">
            <a:avLst/>
          </a:prstGeom>
          <a:solidFill>
            <a:srgbClr val="112338"/>
          </a:solidFill>
          <a:ln>
            <a:solidFill>
              <a:srgbClr val="9EB2CC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車輛進出看板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480560" y="3739896"/>
            <a:ext cx="2194560" cy="228600"/>
          </a:xfrm>
          <a:prstGeom prst="rect">
            <a:avLst/>
          </a:prstGeom>
          <a:solidFill>
            <a:srgbClr val="112338"/>
          </a:solidFill>
          <a:ln>
            <a:solidFill>
              <a:srgbClr val="9EB2CC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人員進出看板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480560" y="4087368"/>
            <a:ext cx="2194560" cy="228600"/>
          </a:xfrm>
          <a:prstGeom prst="rect">
            <a:avLst/>
          </a:prstGeom>
          <a:solidFill>
            <a:srgbClr val="112338"/>
          </a:solidFill>
          <a:ln>
            <a:solidFill>
              <a:srgbClr val="9EB2CC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趨勢圖全螢幕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480560" y="4434840"/>
            <a:ext cx="2194560" cy="228600"/>
          </a:xfrm>
          <a:prstGeom prst="rect">
            <a:avLst/>
          </a:prstGeom>
          <a:solidFill>
            <a:srgbClr val="112338"/>
          </a:solidFill>
          <a:ln>
            <a:solidFill>
              <a:srgbClr val="9EB2CC">
                <a:alpha val="6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告警事件牆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818120" y="2057400"/>
            <a:ext cx="3703320" cy="3108960"/>
          </a:xfrm>
          <a:prstGeom prst="roundRect">
            <a:avLst>
              <a:gd name="adj" fmla="val 1471"/>
            </a:avLst>
          </a:prstGeom>
          <a:solidFill>
            <a:srgbClr val="0D1B2E"/>
          </a:solidFill>
          <a:ln w="12700">
            <a:solidFill>
              <a:srgbClr val="2B3E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23317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系統狀態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92440" y="2697480"/>
            <a:ext cx="29260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車牌平台 API：正常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人臉平台 API：正常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資料延遲：2 秒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快取事件：0 筆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目前版本：v1.0.0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顯示解析度：1920 x 1080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5532120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建議快捷鍵：F11 全螢幕、1 總覽、2 單工地、3 車輛、4 人員、R 立即刷新、Esc 顯示控制列。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655624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工地看板 UI 模板 · Standalone Display · 第 9 頁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8321040" y="655624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資料刷新：API 即時推送優先；備援每 60 秒輪詢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異常狀態模板：斷線、黑名單、證照過期、資料延遲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看板的異常訊息要非常醒目，但不能遮住所有數字。建議使用頂部紅色警示列 + 右側告警卡。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347472"/>
          </a:xfrm>
          <a:prstGeom prst="rect">
            <a:avLst/>
          </a:prstGeom>
          <a:solidFill>
            <a:srgbClr val="FF4D4F"/>
          </a:solidFill>
          <a:ln>
            <a:solidFill>
              <a:srgbClr val="FF4D4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⚠ A03 機電棟工區 · 車牌平台回傳延遲 92 秒 · 請確認 API 服務或網路連線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2697480" cy="2971800"/>
          </a:xfrm>
          <a:prstGeom prst="roundRect">
            <a:avLst>
              <a:gd name="adj" fmla="val 2034"/>
            </a:avLst>
          </a:prstGeom>
          <a:solidFill>
            <a:srgbClr val="0D1B2E"/>
          </a:solidFill>
          <a:ln w="12700">
            <a:solidFill>
              <a:srgbClr val="FF4D4F"/>
            </a:solidFill>
            <a:prstDash val="solid"/>
          </a:ln>
        </p:spPr>
      </p:sp>
      <p:pic>
        <p:nvPicPr>
          <p:cNvPr id="7" name="Image 0" descr="/mnt/data/a_high_angle_surveillance_camera_style_outdoor_sce.png"/>
          <p:cNvPicPr>
            <a:picLocks noChangeAspect="1"/>
          </p:cNvPicPr>
          <p:nvPr/>
        </p:nvPicPr>
        <p:blipFill>
          <a:blip r:embed="rId3"/>
          <a:srcRect t="5235" b="5235"/>
          <a:stretch/>
        </p:blipFill>
        <p:spPr>
          <a:xfrm>
            <a:off x="850392" y="1737360"/>
            <a:ext cx="2359152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3154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黑名單車牌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0392" y="3520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ZZZ-7777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0392" y="3977640"/>
            <a:ext cx="2194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不得進入 · 已通知警衛室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520440" y="1508760"/>
            <a:ext cx="2697480" cy="2971800"/>
          </a:xfrm>
          <a:prstGeom prst="roundRect">
            <a:avLst>
              <a:gd name="adj" fmla="val 2034"/>
            </a:avLst>
          </a:prstGeom>
          <a:solidFill>
            <a:srgbClr val="0D1B2E"/>
          </a:solidFill>
          <a:ln w="12700">
            <a:solidFill>
              <a:srgbClr val="FF4D4F"/>
            </a:solidFill>
            <a:prstDash val="solid"/>
          </a:ln>
        </p:spPr>
      </p:sp>
      <p:pic>
        <p:nvPicPr>
          <p:cNvPr id="12" name="Image 1" descr="/mnt/data/a_realistic_front_facing_close_up_portrait_photo.png"/>
          <p:cNvPicPr>
            <a:picLocks noChangeAspect="1"/>
          </p:cNvPicPr>
          <p:nvPr/>
        </p:nvPicPr>
        <p:blipFill>
          <a:blip r:embed="rId4"/>
          <a:srcRect t="16408" b="16408"/>
          <a:stretch/>
        </p:blipFill>
        <p:spPr>
          <a:xfrm>
            <a:off x="3685032" y="1737360"/>
            <a:ext cx="2359152" cy="11887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032" y="3154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證照過期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85032" y="3520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李O華 / E-0981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685032" y="3977640"/>
            <a:ext cx="2194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電焊作業證過期 · 需人工確認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355080" y="1508760"/>
            <a:ext cx="2697480" cy="2971800"/>
          </a:xfrm>
          <a:prstGeom prst="roundRect">
            <a:avLst>
              <a:gd name="adj" fmla="val 2034"/>
            </a:avLst>
          </a:prstGeom>
          <a:solidFill>
            <a:srgbClr val="0D1B2E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7" name="Image 2" descr="/mnt/data/a_wide_angle_slightly_elevated_cctv_like_view_of.png"/>
          <p:cNvPicPr>
            <a:picLocks noChangeAspect="1"/>
          </p:cNvPicPr>
          <p:nvPr/>
        </p:nvPicPr>
        <p:blipFill>
          <a:blip r:embed="rId5"/>
          <a:srcRect t="5235" b="5235"/>
          <a:stretch/>
        </p:blipFill>
        <p:spPr>
          <a:xfrm>
            <a:off x="6519672" y="1737360"/>
            <a:ext cx="2359152" cy="11887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9672" y="3154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陌生車牌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519672" y="3520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UNKNOWN-019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519672" y="3977640"/>
            <a:ext cx="2194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已自動建檔 · 待管理平台確認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9189720" y="1508760"/>
            <a:ext cx="2697480" cy="2971800"/>
          </a:xfrm>
          <a:prstGeom prst="roundRect">
            <a:avLst>
              <a:gd name="adj" fmla="val 2034"/>
            </a:avLst>
          </a:prstGeom>
          <a:solidFill>
            <a:srgbClr val="0D1B2E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22" name="Image 3" descr="/mnt/data/a_wide_slightly_elevated_cctv_like_view_of_an_act.png"/>
          <p:cNvPicPr>
            <a:picLocks noChangeAspect="1"/>
          </p:cNvPicPr>
          <p:nvPr/>
        </p:nvPicPr>
        <p:blipFill>
          <a:blip r:embed="rId6"/>
          <a:srcRect t="5235" b="5235"/>
          <a:stretch/>
        </p:blipFill>
        <p:spPr>
          <a:xfrm>
            <a:off x="9354312" y="1737360"/>
            <a:ext cx="2359152" cy="11887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54312" y="3154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資料延遲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354312" y="3520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7F0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人臉 API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354312" y="3977640"/>
            <a:ext cx="2194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最後事件時間 14:22:01 · 已超過 5 分鐘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685800" y="5102352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B2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異常優先順序：黑名單 / 證照過期 &gt; API 斷線 &gt; 陌生車牌 &gt; 資料延遲。畫面需保留最後一筆可信資料，並清楚顯示最後更新時間。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11480" y="655624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工地看板 UI 模板 · Standalone Display · 第 10 頁</a:t>
            </a:r>
            <a:endParaRPr lang="en-US" sz="600" dirty="0"/>
          </a:p>
        </p:txBody>
      </p:sp>
      <p:sp>
        <p:nvSpPr>
          <p:cNvPr id="28" name="Text 22"/>
          <p:cNvSpPr/>
          <p:nvPr/>
        </p:nvSpPr>
        <p:spPr>
          <a:xfrm>
            <a:off x="8321040" y="655624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073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資料刷新：API 即時推送優先；備援每 60 秒輪詢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832DD17E84FE344AA4E591D0EA341707" ma:contentTypeVersion="7" ma:contentTypeDescription="建立新的文件。" ma:contentTypeScope="" ma:versionID="44f8f794474473d0ccccba679c52d380">
  <xsd:schema xmlns:xsd="http://www.w3.org/2001/XMLSchema" xmlns:xs="http://www.w3.org/2001/XMLSchema" xmlns:p="http://schemas.microsoft.com/office/2006/metadata/properties" xmlns:ns2="60b79aba-1bae-4ca4-97c6-21de329828d3" targetNamespace="http://schemas.microsoft.com/office/2006/metadata/properties" ma:root="true" ma:fieldsID="79083fd317a6c008220f30bb8d7ee6a3" ns2:_="">
    <xsd:import namespace="60b79aba-1bae-4ca4-97c6-21de329828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79aba-1bae-4ca4-97c6-21de329828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2E4CA4-B047-4839-9C8B-E712F8242C4B}"/>
</file>

<file path=customXml/itemProps2.xml><?xml version="1.0" encoding="utf-8"?>
<ds:datastoreItem xmlns:ds="http://schemas.openxmlformats.org/officeDocument/2006/customXml" ds:itemID="{4F7F8D6A-A706-4042-9B2F-BE47AEF06B39}"/>
</file>

<file path=customXml/itemProps3.xml><?xml version="1.0" encoding="utf-8"?>
<ds:datastoreItem xmlns:ds="http://schemas.openxmlformats.org/officeDocument/2006/customXml" ds:itemID="{5370757D-47DE-478F-A72F-561865A184D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993</Words>
  <Application>Microsoft Macintosh PowerPoint</Application>
  <PresentationFormat>寬螢幕</PresentationFormat>
  <Paragraphs>366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Noto Sans CJK TC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工地看板 UI 趨勢與即時快訊模板</dc:title>
  <dc:subject>工地看板 UI 趨勢與即時快訊模板</dc:subject>
  <dc:creator>OpenAI</dc:creator>
  <cp:lastModifiedBy>Peter Hung</cp:lastModifiedBy>
  <cp:revision>2</cp:revision>
  <dcterms:created xsi:type="dcterms:W3CDTF">2026-05-14T01:58:40Z</dcterms:created>
  <dcterms:modified xsi:type="dcterms:W3CDTF">2026-05-14T02:05:08Z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0x010100832DD17E84FE344AA4E591D0EA341707</vt:lpwstr>
  </property>
</Properties>
</file>